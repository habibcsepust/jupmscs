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notesSlides/notesSlide14.xml" ContentType="application/vnd.openxmlformats-officedocument.presentationml.notesSlide+xml"/>
  <Override PartName="/ppt/notesSlides/notesSlide23.xml" ContentType="application/vnd.openxmlformats-officedocument.presentationml.notesSlide+xml"/>
  <Default Extension="tiff" ContentType="image/tiff"/>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303" r:id="rId3"/>
    <p:sldId id="318" r:id="rId4"/>
    <p:sldId id="304" r:id="rId5"/>
    <p:sldId id="305" r:id="rId6"/>
    <p:sldId id="306" r:id="rId7"/>
    <p:sldId id="307" r:id="rId8"/>
    <p:sldId id="308" r:id="rId9"/>
    <p:sldId id="309" r:id="rId10"/>
    <p:sldId id="311" r:id="rId11"/>
    <p:sldId id="312" r:id="rId12"/>
    <p:sldId id="319" r:id="rId13"/>
    <p:sldId id="313" r:id="rId14"/>
    <p:sldId id="320" r:id="rId15"/>
    <p:sldId id="321" r:id="rId16"/>
    <p:sldId id="322" r:id="rId17"/>
    <p:sldId id="323" r:id="rId18"/>
    <p:sldId id="324" r:id="rId19"/>
    <p:sldId id="325" r:id="rId20"/>
    <p:sldId id="326" r:id="rId21"/>
    <p:sldId id="327" r:id="rId22"/>
    <p:sldId id="328" r:id="rId23"/>
    <p:sldId id="329" r:id="rId24"/>
    <p:sldId id="330" r:id="rId25"/>
    <p:sldId id="331" r:id="rId26"/>
    <p:sldId id="334" r:id="rId27"/>
    <p:sldId id="335" r:id="rId28"/>
    <p:sldId id="336" r:id="rId29"/>
    <p:sldId id="337" r:id="rId30"/>
    <p:sldId id="338" r:id="rId31"/>
    <p:sldId id="339"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9706" autoAdjust="0"/>
    <p:restoredTop sz="97312" autoAdjust="0"/>
  </p:normalViewPr>
  <p:slideViewPr>
    <p:cSldViewPr>
      <p:cViewPr varScale="1">
        <p:scale>
          <a:sx n="85" d="100"/>
          <a:sy n="85" d="100"/>
        </p:scale>
        <p:origin x="-1651" y="-72"/>
      </p:cViewPr>
      <p:guideLst>
        <p:guide orient="horz" pos="2160"/>
        <p:guide pos="2880"/>
      </p:guideLst>
    </p:cSldViewPr>
  </p:slideViewPr>
  <p:outlineViewPr>
    <p:cViewPr>
      <p:scale>
        <a:sx n="33" d="100"/>
        <a:sy n="33" d="100"/>
      </p:scale>
      <p:origin x="21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B109D61-295C-4E7B-896D-258D8C62218F}" type="datetimeFigureOut">
              <a:rPr lang="en-US" smtClean="0"/>
              <a:pPr/>
              <a:t>1/4/2025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405E933-03AE-4F32-8C5B-7DC0967ACB7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771D60C-4F28-4B3A-B514-0D39C0EEA5BD}" type="datetime1">
              <a:rPr lang="en-US" smtClean="0"/>
              <a:pPr/>
              <a:t>1/4/2025</a:t>
            </a:fld>
            <a:endParaRPr lang="en-US"/>
          </a:p>
        </p:txBody>
      </p:sp>
      <p:sp>
        <p:nvSpPr>
          <p:cNvPr id="6" name="Footer Placeholder 5"/>
          <p:cNvSpPr>
            <a:spLocks noGrp="1"/>
          </p:cNvSpPr>
          <p:nvPr>
            <p:ph type="ftr" sz="quarter" idx="11"/>
          </p:nvPr>
        </p:nvSpPr>
        <p:spPr/>
        <p:txBody>
          <a:bodyPr/>
          <a:lstStyle/>
          <a:p>
            <a:r>
              <a:rPr lang="en-US" smtClean="0"/>
              <a:t>Md. Golam Moazzam, Dept. of CSE, JU</a:t>
            </a:r>
            <a:endParaRPr lang="en-US"/>
          </a:p>
        </p:txBody>
      </p:sp>
      <p:sp>
        <p:nvSpPr>
          <p:cNvPr id="7" name="Slide Number Placeholder 6"/>
          <p:cNvSpPr>
            <a:spLocks noGrp="1"/>
          </p:cNvSpPr>
          <p:nvPr>
            <p:ph type="sldNum" sz="quarter" idx="12"/>
          </p:nvPr>
        </p:nvSpPr>
        <p:spPr/>
        <p:txBody>
          <a:bodyPr/>
          <a:lstStyle/>
          <a:p>
            <a:fld id="{8C9281A4-4C9D-4645-98E5-DC94BB779C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tif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1C0BBC-583C-42F1-99F0-A9970C625DE3}" type="datetime1">
              <a:rPr lang="en-US" smtClean="0"/>
              <a:pPr/>
              <a:t>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Md. Golam Moazzam, Dept. of CSE, JU</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9281A4-4C9D-4645-98E5-DC94BB779CF3}" type="slidenum">
              <a:rPr lang="en-US" smtClean="0"/>
              <a:pPr/>
              <a:t>‹#›</a:t>
            </a:fld>
            <a:endParaRPr lang="en-US"/>
          </a:p>
        </p:txBody>
      </p:sp>
      <p:pic>
        <p:nvPicPr>
          <p:cNvPr id="7" name="Picture 6" descr="JU Mon eps.tif"/>
          <p:cNvPicPr>
            <a:picLocks noChangeAspect="1"/>
          </p:cNvPicPr>
          <p:nvPr userDrawn="1"/>
        </p:nvPicPr>
        <p:blipFill>
          <a:blip r:embed="rId4" cstate="print"/>
          <a:stretch>
            <a:fillRect/>
          </a:stretch>
        </p:blipFill>
        <p:spPr>
          <a:xfrm>
            <a:off x="381000" y="228600"/>
            <a:ext cx="917067" cy="1135254"/>
          </a:xfrm>
          <a:prstGeom prst="rect">
            <a:avLst/>
          </a:prstGeom>
        </p:spPr>
      </p:pic>
      <p:sp>
        <p:nvSpPr>
          <p:cNvPr id="8" name="TextBox 7"/>
          <p:cNvSpPr txBox="1"/>
          <p:nvPr userDrawn="1"/>
        </p:nvSpPr>
        <p:spPr>
          <a:xfrm>
            <a:off x="2133600" y="685800"/>
            <a:ext cx="5715000" cy="369332"/>
          </a:xfrm>
          <a:prstGeom prst="rect">
            <a:avLst/>
          </a:prstGeom>
          <a:noFill/>
        </p:spPr>
        <p:txBody>
          <a:bodyPr wrap="square" rtlCol="0">
            <a:spAutoFit/>
          </a:bodyPr>
          <a:lstStyle/>
          <a:p>
            <a:r>
              <a:rPr lang="en-US" dirty="0" smtClean="0"/>
              <a:t>Indexing and Hashing</a:t>
            </a:r>
            <a:endParaRPr lang="en-US" dirty="0"/>
          </a:p>
        </p:txBody>
      </p:sp>
    </p:spTree>
  </p:cSld>
  <p:clrMap bg1="lt1" tx1="dk1" bg2="lt2" tx2="dk2" accent1="accent1" accent2="accent2" accent3="accent3" accent4="accent4" accent5="accent5" accent6="accent6" hlink="hlink" folHlink="folHlink"/>
  <p:sldLayoutIdLst>
    <p:sldLayoutId id="2147483652" r:id="rId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219200" y="1905000"/>
            <a:ext cx="6781800" cy="3276600"/>
          </a:xfrm>
          <a:prstGeom prst="rect">
            <a:avLst/>
          </a:prstGeom>
        </p:spPr>
        <p:txBody>
          <a:bodyPr/>
          <a:lstStyle/>
          <a:p>
            <a:pPr algn="ctr">
              <a:buNone/>
            </a:pPr>
            <a:r>
              <a:rPr lang="en-US" sz="6000" dirty="0" smtClean="0">
                <a:latin typeface="Times New Roman" pitchFamily="18" charset="0"/>
                <a:cs typeface="Times New Roman" pitchFamily="18" charset="0"/>
              </a:rPr>
              <a:t>Dynamic </a:t>
            </a:r>
          </a:p>
          <a:p>
            <a:pPr algn="ctr">
              <a:buNone/>
            </a:pPr>
            <a:r>
              <a:rPr lang="en-US" sz="6000" dirty="0" smtClean="0">
                <a:latin typeface="Times New Roman" pitchFamily="18" charset="0"/>
                <a:cs typeface="Times New Roman" pitchFamily="18" charset="0"/>
              </a:rPr>
              <a:t>Hashing </a:t>
            </a:r>
            <a:endParaRPr lang="en-US" sz="6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4478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Example-3</a:t>
            </a:r>
          </a:p>
          <a:p>
            <a:pPr algn="just"/>
            <a:r>
              <a:rPr lang="en-US" sz="2000" dirty="0" smtClean="0">
                <a:latin typeface="Times New Roman" pitchFamily="18" charset="0"/>
                <a:cs typeface="Times New Roman" pitchFamily="18" charset="0"/>
              </a:rPr>
              <a:t>The following key values are organized in an extendible hashing technique.</a:t>
            </a:r>
          </a:p>
          <a:p>
            <a:pPr algn="just"/>
            <a:r>
              <a:rPr lang="en-US" sz="2000" dirty="0" smtClean="0">
                <a:latin typeface="Times New Roman" pitchFamily="18" charset="0"/>
                <a:cs typeface="Times New Roman" pitchFamily="18" charset="0"/>
              </a:rPr>
              <a:t>	1, 3, 5, 8, 9, 12, 17, 28 </a:t>
            </a:r>
          </a:p>
          <a:p>
            <a:pPr algn="just"/>
            <a:r>
              <a:rPr lang="en-US" sz="2000" dirty="0" smtClean="0">
                <a:latin typeface="Times New Roman" pitchFamily="18" charset="0"/>
                <a:cs typeface="Times New Roman" pitchFamily="18" charset="0"/>
              </a:rPr>
              <a:t>Show the extendible hash structure for this file if the hash function is </a:t>
            </a:r>
            <a:r>
              <a:rPr lang="en-US" sz="2000" i="1" dirty="0" smtClean="0">
                <a:latin typeface="Times New Roman" pitchFamily="18" charset="0"/>
                <a:cs typeface="Times New Roman" pitchFamily="18" charset="0"/>
              </a:rPr>
              <a:t>h</a:t>
            </a:r>
            <a:r>
              <a:rPr lang="en-US" sz="2000" dirty="0" smtClean="0">
                <a:latin typeface="Times New Roman" pitchFamily="18" charset="0"/>
                <a:cs typeface="Times New Roman" pitchFamily="18" charset="0"/>
              </a:rPr>
              <a:t>(x) = </a:t>
            </a:r>
            <a:r>
              <a:rPr lang="en-US" sz="2000" i="1" dirty="0" smtClean="0">
                <a:latin typeface="Times New Roman" pitchFamily="18" charset="0"/>
                <a:cs typeface="Times New Roman" pitchFamily="18" charset="0"/>
              </a:rPr>
              <a:t>x</a:t>
            </a:r>
            <a:r>
              <a:rPr lang="en-US" sz="2000" dirty="0" smtClean="0">
                <a:latin typeface="Times New Roman" pitchFamily="18" charset="0"/>
                <a:cs typeface="Times New Roman" pitchFamily="18" charset="0"/>
              </a:rPr>
              <a:t> mod 8 and buckets can hold three records. Show how extendable hash structure changes as the result of each of the following operations:</a:t>
            </a:r>
          </a:p>
          <a:p>
            <a:pPr lvl="0" algn="just"/>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 Insert 2</a:t>
            </a:r>
          </a:p>
          <a:p>
            <a:pPr lvl="0" algn="just"/>
            <a:r>
              <a:rPr lang="en-US" sz="2000" dirty="0" smtClean="0">
                <a:latin typeface="Times New Roman" pitchFamily="18" charset="0"/>
                <a:cs typeface="Times New Roman" pitchFamily="18" charset="0"/>
              </a:rPr>
              <a:t>	ii. Insert 24</a:t>
            </a:r>
          </a:p>
          <a:p>
            <a:pPr lvl="0" algn="just"/>
            <a:r>
              <a:rPr lang="en-US" sz="2000" dirty="0" smtClean="0">
                <a:latin typeface="Times New Roman" pitchFamily="18" charset="0"/>
                <a:cs typeface="Times New Roman" pitchFamily="18" charset="0"/>
              </a:rPr>
              <a:t>	iii. Delete 5</a:t>
            </a:r>
          </a:p>
          <a:p>
            <a:pPr lvl="0" algn="just"/>
            <a:r>
              <a:rPr lang="en-US" sz="2000" dirty="0" smtClean="0">
                <a:latin typeface="Times New Roman" pitchFamily="18" charset="0"/>
                <a:cs typeface="Times New Roman" pitchFamily="18" charset="0"/>
              </a:rPr>
              <a:t>	iv. Delete 12</a:t>
            </a:r>
          </a:p>
          <a:p>
            <a:pPr algn="just"/>
            <a:r>
              <a:rPr lang="en-US" sz="2000" dirty="0" smtClean="0">
                <a:latin typeface="Times New Roman" pitchFamily="18" charset="0"/>
                <a:cs typeface="Times New Roman" pitchFamily="18" charset="0"/>
              </a:rPr>
              <a:t> </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4478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400" b="1" dirty="0" smtClean="0">
                <a:latin typeface="Times New Roman" pitchFamily="18" charset="0"/>
                <a:cs typeface="Times New Roman" pitchFamily="18" charset="0"/>
              </a:rPr>
              <a:t>Example</a:t>
            </a:r>
          </a:p>
          <a:p>
            <a:pPr marL="342900" marR="0" lvl="0" indent="-342900" algn="just" defTabSz="914400" rtl="0" eaLnBrk="1" fontAlgn="auto" latinLnBrk="0" hangingPunct="1">
              <a:lnSpc>
                <a:spcPct val="100000"/>
              </a:lnSpc>
              <a:spcBef>
                <a:spcPct val="20000"/>
              </a:spcBef>
              <a:spcAft>
                <a:spcPts val="0"/>
              </a:spcAft>
              <a:buClrTx/>
              <a:buSzTx/>
              <a:tabLst/>
              <a:defRPr/>
            </a:pPr>
            <a:r>
              <a:rPr kumimoji="0" lang="en-US" sz="24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400" dirty="0" smtClean="0">
                <a:latin typeface="Times New Roman" pitchFamily="18" charset="0"/>
                <a:cs typeface="Times New Roman" pitchFamily="18" charset="0"/>
              </a:rPr>
              <a:t>Convert the results of the hash function into binary representation:</a:t>
            </a:r>
            <a:endPar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2" name="Table 11"/>
          <p:cNvGraphicFramePr>
            <a:graphicFrameLocks noGrp="1"/>
          </p:cNvGraphicFramePr>
          <p:nvPr/>
        </p:nvGraphicFramePr>
        <p:xfrm>
          <a:off x="2057400" y="2819396"/>
          <a:ext cx="5486399" cy="3276603"/>
        </p:xfrm>
        <a:graphic>
          <a:graphicData uri="http://schemas.openxmlformats.org/drawingml/2006/table">
            <a:tbl>
              <a:tblPr/>
              <a:tblGrid>
                <a:gridCol w="1528997"/>
                <a:gridCol w="1978701"/>
                <a:gridCol w="1978701"/>
              </a:tblGrid>
              <a:tr h="364067">
                <a:tc>
                  <a:txBody>
                    <a:bodyPr/>
                    <a:lstStyle/>
                    <a:p>
                      <a:pPr marL="0" marR="0" algn="ctr">
                        <a:lnSpc>
                          <a:spcPct val="115000"/>
                        </a:lnSpc>
                        <a:spcBef>
                          <a:spcPts val="0"/>
                        </a:spcBef>
                        <a:spcAft>
                          <a:spcPts val="0"/>
                        </a:spcAft>
                      </a:pPr>
                      <a:r>
                        <a:rPr lang="en-US" sz="2000" b="1">
                          <a:latin typeface="Times New Roman"/>
                          <a:ea typeface="Times New Roman"/>
                          <a:cs typeface="Times New Roman"/>
                        </a:rPr>
                        <a:t>Data</a:t>
                      </a:r>
                      <a:endParaRPr lang="en-US" sz="20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i="1">
                          <a:solidFill>
                            <a:srgbClr val="212529"/>
                          </a:solidFill>
                          <a:latin typeface="Times New Roman"/>
                          <a:ea typeface="Times New Roman"/>
                          <a:cs typeface="Times New Roman"/>
                        </a:rPr>
                        <a:t>h</a:t>
                      </a:r>
                      <a:r>
                        <a:rPr lang="en-US" sz="2000" b="1">
                          <a:solidFill>
                            <a:srgbClr val="212529"/>
                          </a:solidFill>
                          <a:latin typeface="Times New Roman"/>
                          <a:ea typeface="Times New Roman"/>
                          <a:cs typeface="Times New Roman"/>
                        </a:rPr>
                        <a:t>(x) = </a:t>
                      </a:r>
                      <a:r>
                        <a:rPr lang="en-US" sz="2000" b="1" i="1">
                          <a:solidFill>
                            <a:srgbClr val="212529"/>
                          </a:solidFill>
                          <a:latin typeface="Times New Roman"/>
                          <a:ea typeface="Times New Roman"/>
                          <a:cs typeface="Times New Roman"/>
                        </a:rPr>
                        <a:t>x</a:t>
                      </a:r>
                      <a:r>
                        <a:rPr lang="en-US" sz="2000" b="1">
                          <a:solidFill>
                            <a:srgbClr val="212529"/>
                          </a:solidFill>
                          <a:latin typeface="Times New Roman"/>
                          <a:ea typeface="Times New Roman"/>
                          <a:cs typeface="Times New Roman"/>
                        </a:rPr>
                        <a:t> mod 8</a:t>
                      </a:r>
                      <a:endParaRPr lang="en-US" sz="20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b="1">
                          <a:latin typeface="Times New Roman"/>
                          <a:ea typeface="Times New Roman"/>
                          <a:cs typeface="Times New Roman"/>
                        </a:rPr>
                        <a:t>Binary form</a:t>
                      </a:r>
                      <a:endParaRPr lang="en-US" sz="20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4067">
                <a:tc>
                  <a:txBody>
                    <a:bodyPr/>
                    <a:lstStyle/>
                    <a:p>
                      <a:pPr marL="0" marR="0" algn="ctr">
                        <a:lnSpc>
                          <a:spcPct val="115000"/>
                        </a:lnSpc>
                        <a:spcBef>
                          <a:spcPts val="0"/>
                        </a:spcBef>
                        <a:spcAft>
                          <a:spcPts val="0"/>
                        </a:spcAft>
                      </a:pPr>
                      <a:r>
                        <a:rPr lang="en-US" sz="2000">
                          <a:latin typeface="Times New Roman"/>
                          <a:ea typeface="Times New Roman"/>
                          <a:cs typeface="Times New Roman"/>
                        </a:rPr>
                        <a:t>1</a:t>
                      </a:r>
                      <a:endParaRPr lang="en-US" sz="20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solidFill>
                            <a:srgbClr val="212529"/>
                          </a:solidFill>
                          <a:latin typeface="Times New Roman"/>
                          <a:ea typeface="Times New Roman"/>
                          <a:cs typeface="Times New Roman"/>
                        </a:rPr>
                        <a:t>1 mod 8 = 1</a:t>
                      </a:r>
                      <a:endParaRPr lang="en-US" sz="20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latin typeface="Times New Roman"/>
                          <a:ea typeface="Times New Roman"/>
                          <a:cs typeface="Times New Roman"/>
                        </a:rPr>
                        <a:t>001</a:t>
                      </a:r>
                      <a:endParaRPr lang="en-US" sz="20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4067">
                <a:tc>
                  <a:txBody>
                    <a:bodyPr/>
                    <a:lstStyle/>
                    <a:p>
                      <a:pPr marL="0" marR="0" algn="ctr">
                        <a:lnSpc>
                          <a:spcPct val="115000"/>
                        </a:lnSpc>
                        <a:spcBef>
                          <a:spcPts val="0"/>
                        </a:spcBef>
                        <a:spcAft>
                          <a:spcPts val="0"/>
                        </a:spcAft>
                      </a:pPr>
                      <a:r>
                        <a:rPr lang="en-US" sz="2000">
                          <a:latin typeface="Times New Roman"/>
                          <a:ea typeface="Times New Roman"/>
                          <a:cs typeface="Times New Roman"/>
                        </a:rPr>
                        <a:t>3</a:t>
                      </a:r>
                      <a:endParaRPr lang="en-US" sz="20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solidFill>
                            <a:srgbClr val="212529"/>
                          </a:solidFill>
                          <a:latin typeface="Times New Roman"/>
                          <a:ea typeface="Times New Roman"/>
                          <a:cs typeface="Times New Roman"/>
                        </a:rPr>
                        <a:t>3 mod 8 = 3</a:t>
                      </a:r>
                      <a:endParaRPr lang="en-US" sz="20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latin typeface="Times New Roman"/>
                          <a:ea typeface="Times New Roman"/>
                          <a:cs typeface="Times New Roman"/>
                        </a:rPr>
                        <a:t>011</a:t>
                      </a:r>
                      <a:endParaRPr lang="en-US" sz="20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4067">
                <a:tc>
                  <a:txBody>
                    <a:bodyPr/>
                    <a:lstStyle/>
                    <a:p>
                      <a:pPr marL="0" marR="0" algn="ctr">
                        <a:lnSpc>
                          <a:spcPct val="115000"/>
                        </a:lnSpc>
                        <a:spcBef>
                          <a:spcPts val="0"/>
                        </a:spcBef>
                        <a:spcAft>
                          <a:spcPts val="0"/>
                        </a:spcAft>
                      </a:pPr>
                      <a:r>
                        <a:rPr lang="en-US" sz="2000">
                          <a:latin typeface="Times New Roman"/>
                          <a:ea typeface="Times New Roman"/>
                          <a:cs typeface="Times New Roman"/>
                        </a:rPr>
                        <a:t>5</a:t>
                      </a:r>
                      <a:endParaRPr lang="en-US" sz="20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solidFill>
                            <a:srgbClr val="212529"/>
                          </a:solidFill>
                          <a:latin typeface="Times New Roman"/>
                          <a:ea typeface="Times New Roman"/>
                          <a:cs typeface="Times New Roman"/>
                        </a:rPr>
                        <a:t>5 mod 8 = 5</a:t>
                      </a:r>
                      <a:endParaRPr lang="en-US" sz="20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latin typeface="Times New Roman"/>
                          <a:ea typeface="Times New Roman"/>
                          <a:cs typeface="Times New Roman"/>
                        </a:rPr>
                        <a:t>101</a:t>
                      </a:r>
                      <a:endParaRPr lang="en-US" sz="20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4067">
                <a:tc>
                  <a:txBody>
                    <a:bodyPr/>
                    <a:lstStyle/>
                    <a:p>
                      <a:pPr marL="0" marR="0" algn="ctr">
                        <a:lnSpc>
                          <a:spcPct val="115000"/>
                        </a:lnSpc>
                        <a:spcBef>
                          <a:spcPts val="0"/>
                        </a:spcBef>
                        <a:spcAft>
                          <a:spcPts val="0"/>
                        </a:spcAft>
                      </a:pPr>
                      <a:r>
                        <a:rPr lang="en-US" sz="2000">
                          <a:latin typeface="Times New Roman"/>
                          <a:ea typeface="Times New Roman"/>
                          <a:cs typeface="Times New Roman"/>
                        </a:rPr>
                        <a:t>8</a:t>
                      </a:r>
                      <a:endParaRPr lang="en-US" sz="20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solidFill>
                            <a:srgbClr val="212529"/>
                          </a:solidFill>
                          <a:latin typeface="Times New Roman"/>
                          <a:ea typeface="Times New Roman"/>
                          <a:cs typeface="Times New Roman"/>
                        </a:rPr>
                        <a:t>8 mod 8 = 0</a:t>
                      </a:r>
                      <a:endParaRPr lang="en-US" sz="20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latin typeface="Times New Roman"/>
                          <a:ea typeface="Times New Roman"/>
                          <a:cs typeface="Times New Roman"/>
                        </a:rPr>
                        <a:t>000</a:t>
                      </a:r>
                      <a:endParaRPr lang="en-US" sz="20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4067">
                <a:tc>
                  <a:txBody>
                    <a:bodyPr/>
                    <a:lstStyle/>
                    <a:p>
                      <a:pPr marL="0" marR="0" algn="ctr">
                        <a:lnSpc>
                          <a:spcPct val="115000"/>
                        </a:lnSpc>
                        <a:spcBef>
                          <a:spcPts val="0"/>
                        </a:spcBef>
                        <a:spcAft>
                          <a:spcPts val="0"/>
                        </a:spcAft>
                      </a:pPr>
                      <a:r>
                        <a:rPr lang="en-US" sz="2000">
                          <a:latin typeface="Times New Roman"/>
                          <a:ea typeface="Times New Roman"/>
                          <a:cs typeface="Times New Roman"/>
                        </a:rPr>
                        <a:t>9</a:t>
                      </a:r>
                      <a:endParaRPr lang="en-US" sz="20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solidFill>
                            <a:srgbClr val="212529"/>
                          </a:solidFill>
                          <a:latin typeface="Times New Roman"/>
                          <a:ea typeface="Times New Roman"/>
                          <a:cs typeface="Times New Roman"/>
                        </a:rPr>
                        <a:t>9 mod 8 = 1</a:t>
                      </a:r>
                      <a:endParaRPr lang="en-US" sz="20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latin typeface="Times New Roman"/>
                          <a:ea typeface="Times New Roman"/>
                          <a:cs typeface="Times New Roman"/>
                        </a:rPr>
                        <a:t>001</a:t>
                      </a:r>
                      <a:endParaRPr lang="en-US" sz="20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4067">
                <a:tc>
                  <a:txBody>
                    <a:bodyPr/>
                    <a:lstStyle/>
                    <a:p>
                      <a:pPr marL="0" marR="0" algn="ctr">
                        <a:lnSpc>
                          <a:spcPct val="115000"/>
                        </a:lnSpc>
                        <a:spcBef>
                          <a:spcPts val="0"/>
                        </a:spcBef>
                        <a:spcAft>
                          <a:spcPts val="0"/>
                        </a:spcAft>
                      </a:pPr>
                      <a:r>
                        <a:rPr lang="en-US" sz="2000">
                          <a:latin typeface="Times New Roman"/>
                          <a:ea typeface="Times New Roman"/>
                          <a:cs typeface="Times New Roman"/>
                        </a:rPr>
                        <a:t>12</a:t>
                      </a:r>
                      <a:endParaRPr lang="en-US" sz="20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solidFill>
                            <a:srgbClr val="212529"/>
                          </a:solidFill>
                          <a:latin typeface="Times New Roman"/>
                          <a:ea typeface="Times New Roman"/>
                          <a:cs typeface="Times New Roman"/>
                        </a:rPr>
                        <a:t>12 mod 8 = 4</a:t>
                      </a:r>
                      <a:endParaRPr lang="en-US" sz="20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latin typeface="Times New Roman"/>
                          <a:ea typeface="Times New Roman"/>
                          <a:cs typeface="Times New Roman"/>
                        </a:rPr>
                        <a:t>100</a:t>
                      </a:r>
                      <a:endParaRPr lang="en-US" sz="20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4067">
                <a:tc>
                  <a:txBody>
                    <a:bodyPr/>
                    <a:lstStyle/>
                    <a:p>
                      <a:pPr marL="0" marR="0" algn="ctr">
                        <a:lnSpc>
                          <a:spcPct val="115000"/>
                        </a:lnSpc>
                        <a:spcBef>
                          <a:spcPts val="0"/>
                        </a:spcBef>
                        <a:spcAft>
                          <a:spcPts val="0"/>
                        </a:spcAft>
                      </a:pPr>
                      <a:r>
                        <a:rPr lang="en-US" sz="2000">
                          <a:latin typeface="Times New Roman"/>
                          <a:ea typeface="Times New Roman"/>
                          <a:cs typeface="Times New Roman"/>
                        </a:rPr>
                        <a:t>17</a:t>
                      </a:r>
                      <a:endParaRPr lang="en-US" sz="20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solidFill>
                            <a:srgbClr val="212529"/>
                          </a:solidFill>
                          <a:latin typeface="Times New Roman"/>
                          <a:ea typeface="Times New Roman"/>
                          <a:cs typeface="Times New Roman"/>
                        </a:rPr>
                        <a:t>17 mod 8 = 1</a:t>
                      </a:r>
                      <a:endParaRPr lang="en-US" sz="20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latin typeface="Times New Roman"/>
                          <a:ea typeface="Times New Roman"/>
                          <a:cs typeface="Times New Roman"/>
                        </a:rPr>
                        <a:t>001</a:t>
                      </a:r>
                      <a:endParaRPr lang="en-US" sz="20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64067">
                <a:tc>
                  <a:txBody>
                    <a:bodyPr/>
                    <a:lstStyle/>
                    <a:p>
                      <a:pPr marL="0" marR="0" algn="ctr">
                        <a:lnSpc>
                          <a:spcPct val="115000"/>
                        </a:lnSpc>
                        <a:spcBef>
                          <a:spcPts val="0"/>
                        </a:spcBef>
                        <a:spcAft>
                          <a:spcPts val="0"/>
                        </a:spcAft>
                      </a:pPr>
                      <a:r>
                        <a:rPr lang="en-US" sz="2000">
                          <a:latin typeface="Times New Roman"/>
                          <a:ea typeface="Times New Roman"/>
                          <a:cs typeface="Times New Roman"/>
                        </a:rPr>
                        <a:t>28</a:t>
                      </a:r>
                      <a:endParaRPr lang="en-US" sz="20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solidFill>
                            <a:srgbClr val="212529"/>
                          </a:solidFill>
                          <a:latin typeface="Times New Roman"/>
                          <a:ea typeface="Times New Roman"/>
                          <a:cs typeface="Times New Roman"/>
                        </a:rPr>
                        <a:t>28 mod 8 = 4</a:t>
                      </a:r>
                      <a:endParaRPr lang="en-US" sz="20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Times New Roman"/>
                          <a:ea typeface="Times New Roman"/>
                          <a:cs typeface="Times New Roman"/>
                        </a:rPr>
                        <a:t>100</a:t>
                      </a:r>
                      <a:endParaRPr lang="en-US" sz="20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4478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Initialize the hash table with two initial directories and buckets. Set the global depth and bucket depth to 1</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2" name="Table 11"/>
          <p:cNvGraphicFramePr>
            <a:graphicFrameLocks noGrp="1"/>
          </p:cNvGraphicFramePr>
          <p:nvPr/>
        </p:nvGraphicFramePr>
        <p:xfrm>
          <a:off x="6464300" y="3048000"/>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477000" y="4191000"/>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19600" y="3733800"/>
          <a:ext cx="914400" cy="731520"/>
        </p:xfrm>
        <a:graphic>
          <a:graphicData uri="http://schemas.openxmlformats.org/drawingml/2006/table">
            <a:tbl>
              <a:tblPr firstRow="1" bandRow="1">
                <a:tableStyleId>{5C22544A-7EE6-4342-B048-85BDC9FD1C3A}</a:tableStyleId>
              </a:tblPr>
              <a:tblGrid>
                <a:gridCol w="914400"/>
              </a:tblGrid>
              <a:tr h="209550">
                <a:tc>
                  <a:txBody>
                    <a:bodyPr/>
                    <a:lstStyle/>
                    <a:p>
                      <a:pPr algn="ctr"/>
                      <a:r>
                        <a:rPr lang="en-US" dirty="0" smtClean="0"/>
                        <a:t>0</a:t>
                      </a:r>
                      <a:endParaRPr lang="en-US" dirty="0"/>
                    </a:p>
                  </a:txBody>
                  <a:tcPr/>
                </a:tc>
              </a:tr>
              <a:tr h="209550">
                <a:tc>
                  <a:txBody>
                    <a:bodyPr/>
                    <a:lstStyle/>
                    <a:p>
                      <a:pPr algn="ctr"/>
                      <a:r>
                        <a:rPr lang="en-US" dirty="0" smtClean="0"/>
                        <a:t>1</a:t>
                      </a:r>
                      <a:endParaRPr lang="en-US" dirty="0"/>
                    </a:p>
                  </a:txBody>
                  <a:tcPr/>
                </a:tc>
              </a:tr>
            </a:tbl>
          </a:graphicData>
        </a:graphic>
      </p:graphicFrame>
      <p:sp>
        <p:nvSpPr>
          <p:cNvPr id="16" name="TextBox 15"/>
          <p:cNvSpPr txBox="1"/>
          <p:nvPr/>
        </p:nvSpPr>
        <p:spPr>
          <a:xfrm>
            <a:off x="4267200" y="28956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267200" y="46482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477000" y="5178623"/>
            <a:ext cx="15240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 Size = 3</a:t>
            </a:r>
            <a:endParaRPr lang="en-US" sz="1400" dirty="0">
              <a:latin typeface="Times New Roman" pitchFamily="18" charset="0"/>
              <a:cs typeface="Times New Roman" pitchFamily="18" charset="0"/>
            </a:endParaRPr>
          </a:p>
        </p:txBody>
      </p:sp>
      <p:sp>
        <p:nvSpPr>
          <p:cNvPr id="22" name="TextBox 21"/>
          <p:cNvSpPr txBox="1"/>
          <p:nvPr/>
        </p:nvSpPr>
        <p:spPr>
          <a:xfrm>
            <a:off x="6705600" y="2438400"/>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705600" y="2743200"/>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428565" y="3439468"/>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1</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572000" y="3276600"/>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334000" y="3657600"/>
            <a:ext cx="11430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334000" y="4267200"/>
            <a:ext cx="11430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4648200" y="5715000"/>
            <a:ext cx="31242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Initial Hash structure</a:t>
            </a:r>
            <a:endParaRPr lang="en-US" sz="1400" dirty="0">
              <a:latin typeface="Times New Roman" pitchFamily="18" charset="0"/>
              <a:cs typeface="Times New Roman" pitchFamily="18" charset="0"/>
            </a:endParaRPr>
          </a:p>
        </p:txBody>
      </p:sp>
      <p:graphicFrame>
        <p:nvGraphicFramePr>
          <p:cNvPr id="23" name="Table 22"/>
          <p:cNvGraphicFramePr>
            <a:graphicFrameLocks noGrp="1"/>
          </p:cNvGraphicFramePr>
          <p:nvPr/>
        </p:nvGraphicFramePr>
        <p:xfrm>
          <a:off x="1143000" y="2743197"/>
          <a:ext cx="2819400" cy="3048003"/>
        </p:xfrm>
        <a:graphic>
          <a:graphicData uri="http://schemas.openxmlformats.org/drawingml/2006/table">
            <a:tbl>
              <a:tblPr/>
              <a:tblGrid>
                <a:gridCol w="1228969"/>
                <a:gridCol w="1590431"/>
              </a:tblGrid>
              <a:tr h="338667">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a:ea typeface="Times New Roman"/>
                          <a:cs typeface="Times New Roman"/>
                        </a:rPr>
                        <a:t>Binary form</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1</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3</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011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5</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8</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000</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9</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12</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100</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17</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28</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100</a:t>
                      </a:r>
                      <a:endParaRPr lang="en-US"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Inserting 1</a:t>
            </a:r>
            <a:r>
              <a:rPr lang="en-US" sz="2000" dirty="0" smtClean="0">
                <a:latin typeface="Times New Roman" pitchFamily="18" charset="0"/>
                <a:cs typeface="Times New Roman" pitchFamily="18" charset="0"/>
              </a:rPr>
              <a:t> (00</a:t>
            </a:r>
            <a:r>
              <a:rPr lang="en-US" sz="2000" b="1" dirty="0" smtClean="0">
                <a:solidFill>
                  <a:srgbClr val="FF0000"/>
                </a:solidFill>
                <a:latin typeface="Times New Roman" pitchFamily="18" charset="0"/>
                <a:cs typeface="Times New Roman" pitchFamily="18" charset="0"/>
              </a:rPr>
              <a:t>1</a:t>
            </a:r>
            <a:r>
              <a:rPr lang="en-US" sz="2000" dirty="0" smtClean="0">
                <a:latin typeface="Times New Roman" pitchFamily="18" charset="0"/>
                <a:cs typeface="Times New Roman" pitchFamily="18" charset="0"/>
              </a:rPr>
              <a:t>). Global-depth is 1. The hash function returns 1 LSB of 00</a:t>
            </a:r>
            <a:r>
              <a:rPr lang="en-US" sz="2000" b="1" dirty="0" smtClean="0">
                <a:solidFill>
                  <a:srgbClr val="FF0000"/>
                </a:solidFill>
                <a:latin typeface="Times New Roman" pitchFamily="18" charset="0"/>
                <a:cs typeface="Times New Roman" pitchFamily="18" charset="0"/>
              </a:rPr>
              <a:t>1</a:t>
            </a:r>
            <a:r>
              <a:rPr lang="en-US" sz="2000" dirty="0" smtClean="0">
                <a:latin typeface="Times New Roman" pitchFamily="18" charset="0"/>
                <a:cs typeface="Times New Roman" pitchFamily="18" charset="0"/>
              </a:rPr>
              <a:t> which is 1. Hence, 1 is mapped to the directory with id=1. </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2" name="Table 11"/>
          <p:cNvGraphicFramePr>
            <a:graphicFrameLocks noGrp="1"/>
          </p:cNvGraphicFramePr>
          <p:nvPr/>
        </p:nvGraphicFramePr>
        <p:xfrm>
          <a:off x="6540500" y="3197423"/>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553200" y="4340423"/>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a:solidFill>
                            <a:srgbClr val="000000"/>
                          </a:solidFill>
                          <a:latin typeface="Times New Roman" pitchFamily="18" charset="0"/>
                          <a:cs typeface="Times New Roman" pitchFamily="18" charset="0"/>
                        </a:rPr>
                        <a:t> </a:t>
                      </a:r>
                      <a:r>
                        <a:rPr lang="en-US" sz="1800" b="0" i="0" u="none" strike="noStrike" dirty="0" smtClean="0">
                          <a:solidFill>
                            <a:srgbClr val="000000"/>
                          </a:solidFill>
                          <a:latin typeface="Times New Roman" pitchFamily="18" charset="0"/>
                          <a:cs typeface="Times New Roman" pitchFamily="18" charset="0"/>
                        </a:rPr>
                        <a:t>1</a:t>
                      </a:r>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883223"/>
          <a:ext cx="914400" cy="731520"/>
        </p:xfrm>
        <a:graphic>
          <a:graphicData uri="http://schemas.openxmlformats.org/drawingml/2006/table">
            <a:tbl>
              <a:tblPr firstRow="1" bandRow="1">
                <a:tableStyleId>{5C22544A-7EE6-4342-B048-85BDC9FD1C3A}</a:tableStyleId>
              </a:tblPr>
              <a:tblGrid>
                <a:gridCol w="914400"/>
              </a:tblGrid>
              <a:tr h="209550">
                <a:tc>
                  <a:txBody>
                    <a:bodyPr/>
                    <a:lstStyle/>
                    <a:p>
                      <a:pPr algn="ctr"/>
                      <a:r>
                        <a:rPr lang="en-US" dirty="0" smtClean="0"/>
                        <a:t>0</a:t>
                      </a:r>
                      <a:endParaRPr lang="en-US" dirty="0"/>
                    </a:p>
                  </a:txBody>
                  <a:tcPr/>
                </a:tc>
              </a:tr>
              <a:tr h="209550">
                <a:tc>
                  <a:txBody>
                    <a:bodyPr/>
                    <a:lstStyle/>
                    <a:p>
                      <a:pPr algn="ctr"/>
                      <a:r>
                        <a:rPr lang="en-US" dirty="0" smtClean="0"/>
                        <a:t>1</a:t>
                      </a:r>
                      <a:endParaRPr lang="en-US" dirty="0"/>
                    </a:p>
                  </a:txBody>
                  <a:tcPr/>
                </a:tc>
              </a:tr>
            </a:tbl>
          </a:graphicData>
        </a:graphic>
      </p:graphicFrame>
      <p:sp>
        <p:nvSpPr>
          <p:cNvPr id="16" name="TextBox 15"/>
          <p:cNvSpPr txBox="1"/>
          <p:nvPr/>
        </p:nvSpPr>
        <p:spPr>
          <a:xfrm>
            <a:off x="4343400" y="30450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47976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553200" y="5328046"/>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587823"/>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781800" y="2892623"/>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504765" y="3588891"/>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1</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648200" y="3426023"/>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410200" y="3807023"/>
            <a:ext cx="11430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4416623"/>
            <a:ext cx="11430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1143000" y="2895597"/>
          <a:ext cx="2819400" cy="3048003"/>
        </p:xfrm>
        <a:graphic>
          <a:graphicData uri="http://schemas.openxmlformats.org/drawingml/2006/table">
            <a:tbl>
              <a:tblPr/>
              <a:tblGrid>
                <a:gridCol w="1228969"/>
                <a:gridCol w="1590431"/>
              </a:tblGrid>
              <a:tr h="338667">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a:ea typeface="Times New Roman"/>
                          <a:cs typeface="Times New Roman"/>
                        </a:rPr>
                        <a:t>Binary form</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001</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latin typeface="Times New Roman"/>
                          <a:ea typeface="Times New Roman"/>
                          <a:cs typeface="Times New Roman"/>
                        </a:rPr>
                        <a:t>3</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011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5</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8</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000</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9</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12</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100</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17</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28</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100</a:t>
                      </a:r>
                      <a:endParaRPr lang="en-US"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Inserting 3</a:t>
            </a:r>
            <a:r>
              <a:rPr lang="en-US" sz="2000" dirty="0" smtClean="0">
                <a:latin typeface="Times New Roman" pitchFamily="18" charset="0"/>
                <a:cs typeface="Times New Roman" pitchFamily="18" charset="0"/>
              </a:rPr>
              <a:t> (01</a:t>
            </a:r>
            <a:r>
              <a:rPr lang="en-US" sz="2000" b="1" dirty="0" smtClean="0">
                <a:solidFill>
                  <a:srgbClr val="FF0000"/>
                </a:solidFill>
                <a:latin typeface="Times New Roman" pitchFamily="18" charset="0"/>
                <a:cs typeface="Times New Roman" pitchFamily="18" charset="0"/>
              </a:rPr>
              <a:t>1</a:t>
            </a:r>
            <a:r>
              <a:rPr lang="en-US" sz="2000" dirty="0" smtClean="0">
                <a:latin typeface="Times New Roman" pitchFamily="18" charset="0"/>
                <a:cs typeface="Times New Roman" pitchFamily="18" charset="0"/>
              </a:rPr>
              <a:t>). The hash function returns 1 LSB of 01</a:t>
            </a:r>
            <a:r>
              <a:rPr lang="en-US" sz="2000" b="1" dirty="0" smtClean="0">
                <a:solidFill>
                  <a:srgbClr val="FF0000"/>
                </a:solidFill>
                <a:latin typeface="Times New Roman" pitchFamily="18" charset="0"/>
                <a:cs typeface="Times New Roman" pitchFamily="18" charset="0"/>
              </a:rPr>
              <a:t>1</a:t>
            </a:r>
            <a:r>
              <a:rPr lang="en-US" sz="2000" dirty="0" smtClean="0">
                <a:latin typeface="Times New Roman" pitchFamily="18" charset="0"/>
                <a:cs typeface="Times New Roman" pitchFamily="18" charset="0"/>
              </a:rPr>
              <a:t> which is 1. Hence, 3 is mapped to the directory with id=1. </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2" name="Table 11"/>
          <p:cNvGraphicFramePr>
            <a:graphicFrameLocks noGrp="1"/>
          </p:cNvGraphicFramePr>
          <p:nvPr/>
        </p:nvGraphicFramePr>
        <p:xfrm>
          <a:off x="6540500" y="3197423"/>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553200" y="4340423"/>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a:solidFill>
                            <a:srgbClr val="000000"/>
                          </a:solidFill>
                          <a:latin typeface="Times New Roman" pitchFamily="18" charset="0"/>
                          <a:cs typeface="Times New Roman" pitchFamily="18" charset="0"/>
                        </a:rPr>
                        <a:t> </a:t>
                      </a:r>
                      <a:r>
                        <a:rPr lang="en-US" sz="1800" b="0" i="0" u="none" strike="noStrike" dirty="0" smtClean="0">
                          <a:solidFill>
                            <a:srgbClr val="000000"/>
                          </a:solidFill>
                          <a:latin typeface="Times New Roman" pitchFamily="18" charset="0"/>
                          <a:cs typeface="Times New Roman" pitchFamily="18" charset="0"/>
                        </a:rPr>
                        <a:t>1, 3</a:t>
                      </a:r>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883223"/>
          <a:ext cx="914400" cy="731520"/>
        </p:xfrm>
        <a:graphic>
          <a:graphicData uri="http://schemas.openxmlformats.org/drawingml/2006/table">
            <a:tbl>
              <a:tblPr firstRow="1" bandRow="1">
                <a:tableStyleId>{5C22544A-7EE6-4342-B048-85BDC9FD1C3A}</a:tableStyleId>
              </a:tblPr>
              <a:tblGrid>
                <a:gridCol w="914400"/>
              </a:tblGrid>
              <a:tr h="209550">
                <a:tc>
                  <a:txBody>
                    <a:bodyPr/>
                    <a:lstStyle/>
                    <a:p>
                      <a:pPr algn="ctr"/>
                      <a:r>
                        <a:rPr lang="en-US" dirty="0" smtClean="0"/>
                        <a:t>0</a:t>
                      </a:r>
                      <a:endParaRPr lang="en-US" dirty="0"/>
                    </a:p>
                  </a:txBody>
                  <a:tcPr/>
                </a:tc>
              </a:tr>
              <a:tr h="209550">
                <a:tc>
                  <a:txBody>
                    <a:bodyPr/>
                    <a:lstStyle/>
                    <a:p>
                      <a:pPr algn="ctr"/>
                      <a:r>
                        <a:rPr lang="en-US" dirty="0" smtClean="0"/>
                        <a:t>1</a:t>
                      </a:r>
                      <a:endParaRPr lang="en-US" dirty="0"/>
                    </a:p>
                  </a:txBody>
                  <a:tcPr/>
                </a:tc>
              </a:tr>
            </a:tbl>
          </a:graphicData>
        </a:graphic>
      </p:graphicFrame>
      <p:sp>
        <p:nvSpPr>
          <p:cNvPr id="16" name="TextBox 15"/>
          <p:cNvSpPr txBox="1"/>
          <p:nvPr/>
        </p:nvSpPr>
        <p:spPr>
          <a:xfrm>
            <a:off x="4343400" y="30450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47976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553200" y="5328046"/>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587823"/>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781800" y="2892623"/>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504765" y="3588891"/>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1</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648200" y="3426023"/>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410200" y="3807023"/>
            <a:ext cx="11430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4416623"/>
            <a:ext cx="11430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1143000" y="2895597"/>
          <a:ext cx="2819400" cy="3048003"/>
        </p:xfrm>
        <a:graphic>
          <a:graphicData uri="http://schemas.openxmlformats.org/drawingml/2006/table">
            <a:tbl>
              <a:tblPr/>
              <a:tblGrid>
                <a:gridCol w="1228969"/>
                <a:gridCol w="1590431"/>
              </a:tblGrid>
              <a:tr h="338667">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a:ea typeface="Times New Roman"/>
                          <a:cs typeface="Times New Roman"/>
                        </a:rPr>
                        <a:t>Binary form</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3</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01</a:t>
                      </a:r>
                      <a:r>
                        <a:rPr lang="en-US" sz="1600" dirty="0">
                          <a:solidFill>
                            <a:srgbClr val="FF0000"/>
                          </a:solidFill>
                          <a:latin typeface="Times New Roman"/>
                          <a:ea typeface="Times New Roman"/>
                          <a:cs typeface="Times New Roman"/>
                        </a:rPr>
                        <a:t>1</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5</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8</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000</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9</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12</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100</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17</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28</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100</a:t>
                      </a:r>
                      <a:endParaRPr lang="en-US"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Inserting 5</a:t>
            </a:r>
            <a:r>
              <a:rPr lang="en-US" sz="2000" dirty="0" smtClean="0">
                <a:latin typeface="Times New Roman" pitchFamily="18" charset="0"/>
                <a:cs typeface="Times New Roman" pitchFamily="18" charset="0"/>
              </a:rPr>
              <a:t> (</a:t>
            </a:r>
            <a:r>
              <a:rPr lang="en-US" sz="2000" b="1" dirty="0" smtClean="0">
                <a:solidFill>
                  <a:srgbClr val="FF0000"/>
                </a:solidFill>
                <a:latin typeface="Times New Roman" pitchFamily="18" charset="0"/>
                <a:cs typeface="Times New Roman" pitchFamily="18" charset="0"/>
              </a:rPr>
              <a:t>101</a:t>
            </a:r>
            <a:r>
              <a:rPr lang="en-US" sz="2000" dirty="0" smtClean="0">
                <a:latin typeface="Times New Roman" pitchFamily="18" charset="0"/>
                <a:cs typeface="Times New Roman" pitchFamily="18" charset="0"/>
              </a:rPr>
              <a:t>). Add it to the "1" ID bucket as the hash function returns 1 LSB of 10</a:t>
            </a:r>
            <a:r>
              <a:rPr lang="en-US" sz="2000" b="1" dirty="0" smtClean="0">
                <a:solidFill>
                  <a:srgbClr val="FF0000"/>
                </a:solidFill>
                <a:latin typeface="Times New Roman" pitchFamily="18" charset="0"/>
                <a:cs typeface="Times New Roman" pitchFamily="18" charset="0"/>
              </a:rPr>
              <a:t>1</a:t>
            </a:r>
            <a:r>
              <a:rPr lang="en-US" sz="2000" dirty="0" smtClean="0">
                <a:latin typeface="Times New Roman" pitchFamily="18" charset="0"/>
                <a:cs typeface="Times New Roman" pitchFamily="18" charset="0"/>
              </a:rPr>
              <a:t> which is 1.  </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2" name="Table 11"/>
          <p:cNvGraphicFramePr>
            <a:graphicFrameLocks noGrp="1"/>
          </p:cNvGraphicFramePr>
          <p:nvPr/>
        </p:nvGraphicFramePr>
        <p:xfrm>
          <a:off x="6540500" y="3197423"/>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553200" y="4340423"/>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a:solidFill>
                            <a:srgbClr val="000000"/>
                          </a:solidFill>
                          <a:latin typeface="Times New Roman" pitchFamily="18" charset="0"/>
                          <a:cs typeface="Times New Roman" pitchFamily="18" charset="0"/>
                        </a:rPr>
                        <a:t> </a:t>
                      </a:r>
                      <a:r>
                        <a:rPr lang="en-US" sz="1800" b="0" i="0" u="none" strike="noStrike" dirty="0" smtClean="0">
                          <a:solidFill>
                            <a:srgbClr val="000000"/>
                          </a:solidFill>
                          <a:latin typeface="Times New Roman" pitchFamily="18" charset="0"/>
                          <a:cs typeface="Times New Roman" pitchFamily="18" charset="0"/>
                        </a:rPr>
                        <a:t>1, 3, 5</a:t>
                      </a:r>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883223"/>
          <a:ext cx="914400" cy="731520"/>
        </p:xfrm>
        <a:graphic>
          <a:graphicData uri="http://schemas.openxmlformats.org/drawingml/2006/table">
            <a:tbl>
              <a:tblPr firstRow="1" bandRow="1">
                <a:tableStyleId>{5C22544A-7EE6-4342-B048-85BDC9FD1C3A}</a:tableStyleId>
              </a:tblPr>
              <a:tblGrid>
                <a:gridCol w="914400"/>
              </a:tblGrid>
              <a:tr h="209550">
                <a:tc>
                  <a:txBody>
                    <a:bodyPr/>
                    <a:lstStyle/>
                    <a:p>
                      <a:pPr algn="ctr"/>
                      <a:r>
                        <a:rPr lang="en-US" dirty="0" smtClean="0"/>
                        <a:t>0</a:t>
                      </a:r>
                      <a:endParaRPr lang="en-US" dirty="0"/>
                    </a:p>
                  </a:txBody>
                  <a:tcPr/>
                </a:tc>
              </a:tr>
              <a:tr h="209550">
                <a:tc>
                  <a:txBody>
                    <a:bodyPr/>
                    <a:lstStyle/>
                    <a:p>
                      <a:pPr algn="ctr"/>
                      <a:r>
                        <a:rPr lang="en-US" dirty="0" smtClean="0"/>
                        <a:t>1</a:t>
                      </a:r>
                      <a:endParaRPr lang="en-US" dirty="0"/>
                    </a:p>
                  </a:txBody>
                  <a:tcPr/>
                </a:tc>
              </a:tr>
            </a:tbl>
          </a:graphicData>
        </a:graphic>
      </p:graphicFrame>
      <p:sp>
        <p:nvSpPr>
          <p:cNvPr id="16" name="TextBox 15"/>
          <p:cNvSpPr txBox="1"/>
          <p:nvPr/>
        </p:nvSpPr>
        <p:spPr>
          <a:xfrm>
            <a:off x="4343400" y="30450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47976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553200" y="5328046"/>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587823"/>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781800" y="2892623"/>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504765" y="3588891"/>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1</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648200" y="3426023"/>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410200" y="3807023"/>
            <a:ext cx="11430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4416623"/>
            <a:ext cx="11430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1143000" y="2895597"/>
          <a:ext cx="2819400" cy="3048003"/>
        </p:xfrm>
        <a:graphic>
          <a:graphicData uri="http://schemas.openxmlformats.org/drawingml/2006/table">
            <a:tbl>
              <a:tblPr/>
              <a:tblGrid>
                <a:gridCol w="1228969"/>
                <a:gridCol w="1590431"/>
              </a:tblGrid>
              <a:tr h="338667">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a:ea typeface="Times New Roman"/>
                          <a:cs typeface="Times New Roman"/>
                        </a:rPr>
                        <a:t>Binary form</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3</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011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5</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a:t>
                      </a:r>
                      <a:r>
                        <a:rPr lang="en-US" sz="1600" dirty="0">
                          <a:solidFill>
                            <a:srgbClr val="FF0000"/>
                          </a:solidFill>
                          <a:latin typeface="Times New Roman"/>
                          <a:ea typeface="Times New Roman"/>
                          <a:cs typeface="Times New Roman"/>
                        </a:rPr>
                        <a:t>1</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8</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000</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9</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12</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100</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17</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28</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100</a:t>
                      </a:r>
                      <a:endParaRPr lang="en-US"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Inserting 8</a:t>
            </a:r>
            <a:r>
              <a:rPr lang="en-US" sz="2000" dirty="0" smtClean="0">
                <a:latin typeface="Times New Roman" pitchFamily="18" charset="0"/>
                <a:cs typeface="Times New Roman" pitchFamily="18" charset="0"/>
              </a:rPr>
              <a:t> (00</a:t>
            </a:r>
            <a:r>
              <a:rPr lang="en-US" sz="2000" b="1" dirty="0" smtClean="0">
                <a:solidFill>
                  <a:srgbClr val="FF0000"/>
                </a:solidFill>
                <a:latin typeface="Times New Roman" pitchFamily="18" charset="0"/>
                <a:cs typeface="Times New Roman" pitchFamily="18" charset="0"/>
              </a:rPr>
              <a:t>0</a:t>
            </a:r>
            <a:r>
              <a:rPr lang="en-US" sz="2000" dirty="0" smtClean="0">
                <a:latin typeface="Times New Roman" pitchFamily="18" charset="0"/>
                <a:cs typeface="Times New Roman" pitchFamily="18" charset="0"/>
              </a:rPr>
              <a:t>). Add it to the “0" ID bucket as the hash function returns 1 LSB of 00</a:t>
            </a:r>
            <a:r>
              <a:rPr lang="en-US" sz="2000" b="1" dirty="0" smtClean="0">
                <a:solidFill>
                  <a:srgbClr val="FF0000"/>
                </a:solidFill>
                <a:latin typeface="Times New Roman" pitchFamily="18" charset="0"/>
                <a:cs typeface="Times New Roman" pitchFamily="18" charset="0"/>
              </a:rPr>
              <a:t>0</a:t>
            </a:r>
            <a:r>
              <a:rPr lang="en-US" sz="2000" dirty="0" smtClean="0">
                <a:latin typeface="Times New Roman" pitchFamily="18" charset="0"/>
                <a:cs typeface="Times New Roman" pitchFamily="18" charset="0"/>
              </a:rPr>
              <a:t> which is 0.  </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2" name="Table 11"/>
          <p:cNvGraphicFramePr>
            <a:graphicFrameLocks noGrp="1"/>
          </p:cNvGraphicFramePr>
          <p:nvPr/>
        </p:nvGraphicFramePr>
        <p:xfrm>
          <a:off x="6540500" y="3197423"/>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smtClean="0">
                          <a:solidFill>
                            <a:srgbClr val="000000"/>
                          </a:solidFill>
                          <a:latin typeface="Times New Roman" pitchFamily="18" charset="0"/>
                          <a:cs typeface="Times New Roman" pitchFamily="18" charset="0"/>
                        </a:rPr>
                        <a:t>8</a:t>
                      </a:r>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553200" y="4340423"/>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a:solidFill>
                            <a:srgbClr val="000000"/>
                          </a:solidFill>
                          <a:latin typeface="Times New Roman" pitchFamily="18" charset="0"/>
                          <a:cs typeface="Times New Roman" pitchFamily="18" charset="0"/>
                        </a:rPr>
                        <a:t> </a:t>
                      </a:r>
                      <a:r>
                        <a:rPr lang="en-US" sz="1800" b="0" i="0" u="none" strike="noStrike" dirty="0" smtClean="0">
                          <a:solidFill>
                            <a:srgbClr val="000000"/>
                          </a:solidFill>
                          <a:latin typeface="Times New Roman" pitchFamily="18" charset="0"/>
                          <a:cs typeface="Times New Roman" pitchFamily="18" charset="0"/>
                        </a:rPr>
                        <a:t>1, 3, 5</a:t>
                      </a:r>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883223"/>
          <a:ext cx="914400" cy="731520"/>
        </p:xfrm>
        <a:graphic>
          <a:graphicData uri="http://schemas.openxmlformats.org/drawingml/2006/table">
            <a:tbl>
              <a:tblPr firstRow="1" bandRow="1">
                <a:tableStyleId>{5C22544A-7EE6-4342-B048-85BDC9FD1C3A}</a:tableStyleId>
              </a:tblPr>
              <a:tblGrid>
                <a:gridCol w="914400"/>
              </a:tblGrid>
              <a:tr h="209550">
                <a:tc>
                  <a:txBody>
                    <a:bodyPr/>
                    <a:lstStyle/>
                    <a:p>
                      <a:pPr algn="ctr"/>
                      <a:r>
                        <a:rPr lang="en-US" dirty="0" smtClean="0"/>
                        <a:t>0</a:t>
                      </a:r>
                      <a:endParaRPr lang="en-US" dirty="0"/>
                    </a:p>
                  </a:txBody>
                  <a:tcPr/>
                </a:tc>
              </a:tr>
              <a:tr h="209550">
                <a:tc>
                  <a:txBody>
                    <a:bodyPr/>
                    <a:lstStyle/>
                    <a:p>
                      <a:pPr algn="ctr"/>
                      <a:r>
                        <a:rPr lang="en-US" dirty="0" smtClean="0"/>
                        <a:t>1</a:t>
                      </a:r>
                      <a:endParaRPr lang="en-US" dirty="0"/>
                    </a:p>
                  </a:txBody>
                  <a:tcPr/>
                </a:tc>
              </a:tr>
            </a:tbl>
          </a:graphicData>
        </a:graphic>
      </p:graphicFrame>
      <p:sp>
        <p:nvSpPr>
          <p:cNvPr id="16" name="TextBox 15"/>
          <p:cNvSpPr txBox="1"/>
          <p:nvPr/>
        </p:nvSpPr>
        <p:spPr>
          <a:xfrm>
            <a:off x="4343400" y="30450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47976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553200" y="5328046"/>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587823"/>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781800" y="2892623"/>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504765" y="3588891"/>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1</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648200" y="3426023"/>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410200" y="3807023"/>
            <a:ext cx="11430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4416623"/>
            <a:ext cx="11430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1143000" y="2895597"/>
          <a:ext cx="2819400" cy="3048003"/>
        </p:xfrm>
        <a:graphic>
          <a:graphicData uri="http://schemas.openxmlformats.org/drawingml/2006/table">
            <a:tbl>
              <a:tblPr/>
              <a:tblGrid>
                <a:gridCol w="1228969"/>
                <a:gridCol w="1590431"/>
              </a:tblGrid>
              <a:tr h="338667">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a:ea typeface="Times New Roman"/>
                          <a:cs typeface="Times New Roman"/>
                        </a:rPr>
                        <a:t>Binary form</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3</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011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5</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8</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a:t>
                      </a:r>
                      <a:r>
                        <a:rPr lang="en-US" sz="1600" dirty="0">
                          <a:solidFill>
                            <a:srgbClr val="FF0000"/>
                          </a:solidFill>
                          <a:latin typeface="Times New Roman"/>
                          <a:ea typeface="Times New Roman"/>
                          <a:cs typeface="Times New Roman"/>
                        </a:rPr>
                        <a:t>0</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9</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12</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100</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17</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28</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100</a:t>
                      </a:r>
                      <a:endParaRPr lang="en-US"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Inserting 9</a:t>
            </a:r>
            <a:r>
              <a:rPr lang="en-US" sz="2000" dirty="0" smtClean="0">
                <a:latin typeface="Times New Roman" pitchFamily="18" charset="0"/>
                <a:cs typeface="Times New Roman" pitchFamily="18" charset="0"/>
              </a:rPr>
              <a:t> (00</a:t>
            </a:r>
            <a:r>
              <a:rPr lang="en-US" sz="2000" b="1" dirty="0" smtClean="0">
                <a:solidFill>
                  <a:srgbClr val="FF0000"/>
                </a:solidFill>
                <a:latin typeface="Times New Roman" pitchFamily="18" charset="0"/>
                <a:cs typeface="Times New Roman" pitchFamily="18" charset="0"/>
              </a:rPr>
              <a:t>1</a:t>
            </a:r>
            <a:r>
              <a:rPr lang="en-US" sz="2000" dirty="0" smtClean="0">
                <a:latin typeface="Times New Roman" pitchFamily="18" charset="0"/>
                <a:cs typeface="Times New Roman" pitchFamily="18" charset="0"/>
              </a:rPr>
              <a:t>). Adding it to the “1" ID bucket makes it overflow.</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2" name="Table 11"/>
          <p:cNvGraphicFramePr>
            <a:graphicFrameLocks noGrp="1"/>
          </p:cNvGraphicFramePr>
          <p:nvPr/>
        </p:nvGraphicFramePr>
        <p:xfrm>
          <a:off x="6540500" y="3197423"/>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smtClean="0">
                          <a:solidFill>
                            <a:srgbClr val="000000"/>
                          </a:solidFill>
                          <a:latin typeface="Times New Roman" pitchFamily="18" charset="0"/>
                          <a:cs typeface="Times New Roman" pitchFamily="18" charset="0"/>
                        </a:rPr>
                        <a:t>8</a:t>
                      </a:r>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553200" y="4340423"/>
          <a:ext cx="1765300" cy="838200"/>
        </p:xfrm>
        <a:graphic>
          <a:graphicData uri="http://schemas.openxmlformats.org/drawingml/2006/table">
            <a:tbl>
              <a:tblPr/>
              <a:tblGrid>
                <a:gridCol w="546100"/>
                <a:gridCol w="609600"/>
                <a:gridCol w="609600"/>
              </a:tblGrid>
              <a:tr h="4191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419100">
                <a:tc gridSpan="3">
                  <a:txBody>
                    <a:bodyPr/>
                    <a:lstStyle/>
                    <a:p>
                      <a:pPr algn="ctr" fontAlgn="b"/>
                      <a:r>
                        <a:rPr lang="en-US" sz="1800" b="0" i="0" u="none" strike="noStrike" dirty="0">
                          <a:solidFill>
                            <a:srgbClr val="000000"/>
                          </a:solidFill>
                          <a:latin typeface="Times New Roman" pitchFamily="18" charset="0"/>
                          <a:cs typeface="Times New Roman" pitchFamily="18" charset="0"/>
                        </a:rPr>
                        <a:t> </a:t>
                      </a:r>
                      <a:r>
                        <a:rPr lang="en-US" sz="1800" b="0" i="0" u="none" strike="noStrike" dirty="0" smtClean="0">
                          <a:solidFill>
                            <a:srgbClr val="000000"/>
                          </a:solidFill>
                          <a:latin typeface="Times New Roman" pitchFamily="18" charset="0"/>
                          <a:cs typeface="Times New Roman" pitchFamily="18" charset="0"/>
                        </a:rPr>
                        <a:t>1, 3, 5, </a:t>
                      </a:r>
                      <a:r>
                        <a:rPr lang="en-US" sz="1800" b="0" i="0" u="none" strike="noStrike" dirty="0" smtClean="0">
                          <a:solidFill>
                            <a:srgbClr val="FF0000"/>
                          </a:solidFill>
                          <a:latin typeface="Times New Roman" pitchFamily="18" charset="0"/>
                          <a:cs typeface="Times New Roman" pitchFamily="18" charset="0"/>
                        </a:rPr>
                        <a:t>9</a:t>
                      </a:r>
                      <a:endParaRPr lang="en-US" sz="18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883223"/>
          <a:ext cx="914400" cy="731520"/>
        </p:xfrm>
        <a:graphic>
          <a:graphicData uri="http://schemas.openxmlformats.org/drawingml/2006/table">
            <a:tbl>
              <a:tblPr firstRow="1" bandRow="1">
                <a:tableStyleId>{5C22544A-7EE6-4342-B048-85BDC9FD1C3A}</a:tableStyleId>
              </a:tblPr>
              <a:tblGrid>
                <a:gridCol w="914400"/>
              </a:tblGrid>
              <a:tr h="209550">
                <a:tc>
                  <a:txBody>
                    <a:bodyPr/>
                    <a:lstStyle/>
                    <a:p>
                      <a:pPr algn="ctr"/>
                      <a:r>
                        <a:rPr lang="en-US" dirty="0" smtClean="0"/>
                        <a:t>0</a:t>
                      </a:r>
                      <a:endParaRPr lang="en-US" dirty="0"/>
                    </a:p>
                  </a:txBody>
                  <a:tcPr/>
                </a:tc>
              </a:tr>
              <a:tr h="209550">
                <a:tc>
                  <a:txBody>
                    <a:bodyPr/>
                    <a:lstStyle/>
                    <a:p>
                      <a:pPr algn="ctr"/>
                      <a:r>
                        <a:rPr lang="en-US" dirty="0" smtClean="0"/>
                        <a:t>1</a:t>
                      </a:r>
                      <a:endParaRPr lang="en-US" dirty="0"/>
                    </a:p>
                  </a:txBody>
                  <a:tcPr/>
                </a:tc>
              </a:tr>
            </a:tbl>
          </a:graphicData>
        </a:graphic>
      </p:graphicFrame>
      <p:sp>
        <p:nvSpPr>
          <p:cNvPr id="16" name="TextBox 15"/>
          <p:cNvSpPr txBox="1"/>
          <p:nvPr/>
        </p:nvSpPr>
        <p:spPr>
          <a:xfrm>
            <a:off x="4343400" y="30450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47976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553200" y="5328046"/>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587823"/>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781800" y="2892623"/>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504765" y="3588891"/>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1</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648200" y="3426023"/>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410200" y="3807023"/>
            <a:ext cx="11430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4416623"/>
            <a:ext cx="11430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1143000" y="2895597"/>
          <a:ext cx="2819400" cy="3048003"/>
        </p:xfrm>
        <a:graphic>
          <a:graphicData uri="http://schemas.openxmlformats.org/drawingml/2006/table">
            <a:tbl>
              <a:tblPr/>
              <a:tblGrid>
                <a:gridCol w="1228969"/>
                <a:gridCol w="1590431"/>
              </a:tblGrid>
              <a:tr h="338667">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a:ea typeface="Times New Roman"/>
                          <a:cs typeface="Times New Roman"/>
                        </a:rPr>
                        <a:t>Binary form</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3</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011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5</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000</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9</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a:t>
                      </a:r>
                      <a:r>
                        <a:rPr lang="en-US" sz="1600" dirty="0">
                          <a:solidFill>
                            <a:srgbClr val="FF0000"/>
                          </a:solidFill>
                          <a:latin typeface="Times New Roman"/>
                          <a:ea typeface="Times New Roman"/>
                          <a:cs typeface="Times New Roman"/>
                        </a:rPr>
                        <a:t>1</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12</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100</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17</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28</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100</a:t>
                      </a:r>
                      <a:endParaRPr lang="en-US"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6" name="TextBox 25"/>
          <p:cNvSpPr txBox="1"/>
          <p:nvPr/>
        </p:nvSpPr>
        <p:spPr>
          <a:xfrm>
            <a:off x="7620000" y="4141695"/>
            <a:ext cx="11430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Overflow</a:t>
            </a:r>
            <a:endParaRPr lang="en-US" sz="1400" dirty="0">
              <a:latin typeface="Times New Roman" pitchFamily="18" charset="0"/>
              <a:cs typeface="Times New Roman" pitchFamily="18" charset="0"/>
            </a:endParaRPr>
          </a:p>
        </p:txBody>
      </p:sp>
      <p:cxnSp>
        <p:nvCxnSpPr>
          <p:cNvPr id="28" name="Straight Arrow Connector 27"/>
          <p:cNvCxnSpPr/>
          <p:nvPr/>
        </p:nvCxnSpPr>
        <p:spPr>
          <a:xfrm rot="5400000">
            <a:off x="7696200" y="4446495"/>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1600" b="1" dirty="0" smtClean="0">
                <a:latin typeface="Times New Roman" pitchFamily="18" charset="0"/>
                <a:cs typeface="Times New Roman" pitchFamily="18" charset="0"/>
              </a:rPr>
              <a:t>Example</a:t>
            </a:r>
          </a:p>
          <a:p>
            <a:pPr marL="342900" lvl="0" indent="-342900" algn="just">
              <a:spcBef>
                <a:spcPct val="20000"/>
              </a:spcBef>
            </a:pPr>
            <a:r>
              <a:rPr kumimoji="0" lang="en-US" sz="16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1600" dirty="0" smtClean="0">
                <a:latin typeface="Times New Roman" pitchFamily="18" charset="0"/>
                <a:cs typeface="Times New Roman" pitchFamily="18" charset="0"/>
              </a:rPr>
              <a:t>Since Local Depth = Global Depth, the bucket splits and directory expansion takes place. Rehash the numbers present in the overflowing bucket after splitting the bucket. Global depth is incremented by 1. Now, the global depth is 2. Hence, 1, 3, 5 and 9 are now rehashed w. r. t 2 LSBs.  </a:t>
            </a:r>
            <a:endPar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2" name="Table 11"/>
          <p:cNvGraphicFramePr>
            <a:graphicFrameLocks noGrp="1"/>
          </p:cNvGraphicFramePr>
          <p:nvPr/>
        </p:nvGraphicFramePr>
        <p:xfrm>
          <a:off x="6705600" y="3505200"/>
          <a:ext cx="1384301" cy="548640"/>
        </p:xfrm>
        <a:graphic>
          <a:graphicData uri="http://schemas.openxmlformats.org/drawingml/2006/table">
            <a:tbl>
              <a:tblPr/>
              <a:tblGrid>
                <a:gridCol w="428237"/>
                <a:gridCol w="478032"/>
                <a:gridCol w="478032"/>
              </a:tblGrid>
              <a:tr h="265212">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800" b="0" i="0" u="none" strike="noStrike" dirty="0" smtClean="0">
                          <a:solidFill>
                            <a:schemeClr val="tx1"/>
                          </a:solidFill>
                          <a:latin typeface="Times New Roman" pitchFamily="18" charset="0"/>
                          <a:cs typeface="Times New Roman" pitchFamily="18" charset="0"/>
                        </a:rPr>
                        <a:t>8</a:t>
                      </a:r>
                      <a:endParaRPr lang="en-US" sz="18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705600" y="5181600"/>
          <a:ext cx="1371600" cy="609600"/>
        </p:xfrm>
        <a:graphic>
          <a:graphicData uri="http://schemas.openxmlformats.org/drawingml/2006/table">
            <a:tbl>
              <a:tblPr/>
              <a:tblGrid>
                <a:gridCol w="424308"/>
                <a:gridCol w="473646"/>
                <a:gridCol w="473646"/>
              </a:tblGrid>
              <a:tr h="3048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2</a:t>
                      </a:r>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304800">
                <a:tc gridSpan="3">
                  <a:txBody>
                    <a:bodyPr/>
                    <a:lstStyle/>
                    <a:p>
                      <a:pPr algn="ctr" fontAlgn="b"/>
                      <a:r>
                        <a:rPr lang="en-US" sz="1800" b="0" i="0" u="none" strike="noStrike" dirty="0">
                          <a:solidFill>
                            <a:srgbClr val="000000"/>
                          </a:solidFill>
                          <a:latin typeface="Times New Roman" pitchFamily="18" charset="0"/>
                          <a:cs typeface="Times New Roman" pitchFamily="18" charset="0"/>
                        </a:rPr>
                        <a:t> </a:t>
                      </a:r>
                      <a:r>
                        <a:rPr lang="en-US" sz="1800" b="0" i="0" u="none" strike="noStrike" dirty="0" smtClean="0">
                          <a:solidFill>
                            <a:srgbClr val="FF0000"/>
                          </a:solidFill>
                          <a:latin typeface="Times New Roman" pitchFamily="18" charset="0"/>
                          <a:cs typeface="Times New Roman" pitchFamily="18" charset="0"/>
                        </a:rPr>
                        <a:t>3</a:t>
                      </a:r>
                      <a:endParaRPr lang="en-US" sz="18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883223"/>
          <a:ext cx="914400" cy="1463040"/>
        </p:xfrm>
        <a:graphic>
          <a:graphicData uri="http://schemas.openxmlformats.org/drawingml/2006/table">
            <a:tbl>
              <a:tblPr firstRow="1" bandRow="1">
                <a:tableStyleId>{5C22544A-7EE6-4342-B048-85BDC9FD1C3A}</a:tableStyleId>
              </a:tblPr>
              <a:tblGrid>
                <a:gridCol w="914400"/>
              </a:tblGrid>
              <a:tr h="209550">
                <a:tc>
                  <a:txBody>
                    <a:bodyPr/>
                    <a:lstStyle/>
                    <a:p>
                      <a:pPr algn="ctr"/>
                      <a:r>
                        <a:rPr lang="en-US" dirty="0" smtClean="0"/>
                        <a:t>00</a:t>
                      </a:r>
                      <a:endParaRPr lang="en-US" dirty="0"/>
                    </a:p>
                  </a:txBody>
                  <a:tcPr/>
                </a:tc>
              </a:tr>
              <a:tr h="209550">
                <a:tc>
                  <a:txBody>
                    <a:bodyPr/>
                    <a:lstStyle/>
                    <a:p>
                      <a:pPr algn="ctr"/>
                      <a:r>
                        <a:rPr lang="en-US" dirty="0" smtClean="0"/>
                        <a:t>01</a:t>
                      </a:r>
                      <a:endParaRPr lang="en-US" dirty="0"/>
                    </a:p>
                  </a:txBody>
                  <a:tcPr/>
                </a:tc>
              </a:tr>
              <a:tr h="209550">
                <a:tc>
                  <a:txBody>
                    <a:bodyPr/>
                    <a:lstStyle/>
                    <a:p>
                      <a:pPr algn="ctr"/>
                      <a:r>
                        <a:rPr lang="en-US" dirty="0" smtClean="0"/>
                        <a:t>10</a:t>
                      </a:r>
                      <a:endParaRPr lang="en-US" dirty="0"/>
                    </a:p>
                  </a:txBody>
                  <a:tcPr/>
                </a:tc>
              </a:tr>
              <a:tr h="209550">
                <a:tc>
                  <a:txBody>
                    <a:bodyPr/>
                    <a:lstStyle/>
                    <a:p>
                      <a:pPr algn="ctr"/>
                      <a:r>
                        <a:rPr lang="en-US" dirty="0" smtClean="0"/>
                        <a:t>11</a:t>
                      </a:r>
                      <a:endParaRPr lang="en-US" dirty="0"/>
                    </a:p>
                  </a:txBody>
                  <a:tcPr/>
                </a:tc>
              </a:tr>
            </a:tbl>
          </a:graphicData>
        </a:graphic>
      </p:graphicFrame>
      <p:sp>
        <p:nvSpPr>
          <p:cNvPr id="16" name="TextBox 15"/>
          <p:cNvSpPr txBox="1"/>
          <p:nvPr/>
        </p:nvSpPr>
        <p:spPr>
          <a:xfrm>
            <a:off x="4343400" y="30450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55596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781800" y="58674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910553"/>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858000" y="3200400"/>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504765" y="3588891"/>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2</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648200" y="3426023"/>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401235" y="3962400"/>
            <a:ext cx="1295400" cy="732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01235" y="5172635"/>
            <a:ext cx="12954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6705600" y="4328160"/>
          <a:ext cx="1384301" cy="548640"/>
        </p:xfrm>
        <a:graphic>
          <a:graphicData uri="http://schemas.openxmlformats.org/drawingml/2006/table">
            <a:tbl>
              <a:tblPr/>
              <a:tblGrid>
                <a:gridCol w="428237"/>
                <a:gridCol w="478032"/>
                <a:gridCol w="478032"/>
              </a:tblGrid>
              <a:tr h="265212">
                <a:tc>
                  <a:txBody>
                    <a:bodyPr/>
                    <a:lstStyle/>
                    <a:p>
                      <a:pPr algn="ctr" fontAlgn="b"/>
                      <a:r>
                        <a:rPr lang="en-US" sz="1800" b="0" i="0" u="none" strike="noStrike" dirty="0" smtClean="0">
                          <a:solidFill>
                            <a:srgbClr val="000000"/>
                          </a:solidFill>
                          <a:latin typeface="Times New Roman" pitchFamily="18" charset="0"/>
                          <a:cs typeface="Times New Roman" pitchFamily="18" charset="0"/>
                        </a:rPr>
                        <a:t>2</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800" b="0" i="0" u="none" strike="noStrike" dirty="0" smtClean="0">
                          <a:solidFill>
                            <a:srgbClr val="FF0000"/>
                          </a:solidFill>
                          <a:latin typeface="Times New Roman" pitchFamily="18" charset="0"/>
                          <a:cs typeface="Times New Roman" pitchFamily="18" charset="0"/>
                        </a:rPr>
                        <a:t>1, 5, 9</a:t>
                      </a:r>
                      <a:endParaRPr lang="en-US" sz="18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28" name="Straight Arrow Connector 27"/>
          <p:cNvCxnSpPr/>
          <p:nvPr/>
        </p:nvCxnSpPr>
        <p:spPr>
          <a:xfrm>
            <a:off x="5401235" y="4486835"/>
            <a:ext cx="1304365" cy="2375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5401235" y="4038600"/>
            <a:ext cx="1304365" cy="7844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6" name="Table 25"/>
          <p:cNvGraphicFramePr>
            <a:graphicFrameLocks noGrp="1"/>
          </p:cNvGraphicFramePr>
          <p:nvPr/>
        </p:nvGraphicFramePr>
        <p:xfrm>
          <a:off x="1143000" y="2895597"/>
          <a:ext cx="2819400" cy="3048003"/>
        </p:xfrm>
        <a:graphic>
          <a:graphicData uri="http://schemas.openxmlformats.org/drawingml/2006/table">
            <a:tbl>
              <a:tblPr/>
              <a:tblGrid>
                <a:gridCol w="1228969"/>
                <a:gridCol w="1590431"/>
              </a:tblGrid>
              <a:tr h="338667">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a:ea typeface="Times New Roman"/>
                          <a:cs typeface="Times New Roman"/>
                        </a:rPr>
                        <a:t>Binary form</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a:t>
                      </a:r>
                      <a:r>
                        <a:rPr lang="en-US" sz="1600" dirty="0">
                          <a:solidFill>
                            <a:srgbClr val="FF0000"/>
                          </a:solidFill>
                          <a:latin typeface="Times New Roman"/>
                          <a:ea typeface="Times New Roman"/>
                          <a:cs typeface="Times New Roman"/>
                        </a:rPr>
                        <a:t>01</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3</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a:t>
                      </a:r>
                      <a:r>
                        <a:rPr lang="en-US" sz="1600" dirty="0">
                          <a:solidFill>
                            <a:srgbClr val="FF0000"/>
                          </a:solidFill>
                          <a:latin typeface="Times New Roman"/>
                          <a:ea typeface="Times New Roman"/>
                          <a:cs typeface="Times New Roman"/>
                        </a:rPr>
                        <a:t>11</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5</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r>
                        <a:rPr lang="en-US" sz="1600" dirty="0">
                          <a:solidFill>
                            <a:srgbClr val="FF0000"/>
                          </a:solidFill>
                          <a:latin typeface="Times New Roman"/>
                          <a:ea typeface="Times New Roman"/>
                          <a:cs typeface="Times New Roman"/>
                        </a:rPr>
                        <a:t>01</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000</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9</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a:t>
                      </a:r>
                      <a:r>
                        <a:rPr lang="en-US" sz="1600" dirty="0">
                          <a:solidFill>
                            <a:srgbClr val="FF0000"/>
                          </a:solidFill>
                          <a:latin typeface="Times New Roman"/>
                          <a:ea typeface="Times New Roman"/>
                          <a:cs typeface="Times New Roman"/>
                        </a:rPr>
                        <a:t>01</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12</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100</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17</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28</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100</a:t>
                      </a:r>
                      <a:endParaRPr lang="en-US"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Inserting 12 (1</a:t>
            </a:r>
            <a:r>
              <a:rPr lang="en-US" sz="2000" b="1" dirty="0" smtClean="0">
                <a:solidFill>
                  <a:srgbClr val="FF0000"/>
                </a:solidFill>
                <a:latin typeface="Times New Roman" pitchFamily="18" charset="0"/>
                <a:cs typeface="Times New Roman" pitchFamily="18" charset="0"/>
              </a:rPr>
              <a:t>00</a:t>
            </a:r>
            <a:r>
              <a:rPr lang="en-US" sz="2000" dirty="0" smtClean="0">
                <a:latin typeface="Times New Roman" pitchFamily="18" charset="0"/>
                <a:cs typeface="Times New Roman" pitchFamily="18" charset="0"/>
              </a:rPr>
              <a:t>). Adding it to the "00" ID bucket.   </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2" name="Table 11"/>
          <p:cNvGraphicFramePr>
            <a:graphicFrameLocks noGrp="1"/>
          </p:cNvGraphicFramePr>
          <p:nvPr/>
        </p:nvGraphicFramePr>
        <p:xfrm>
          <a:off x="6705600" y="3505200"/>
          <a:ext cx="1384301" cy="548640"/>
        </p:xfrm>
        <a:graphic>
          <a:graphicData uri="http://schemas.openxmlformats.org/drawingml/2006/table">
            <a:tbl>
              <a:tblPr/>
              <a:tblGrid>
                <a:gridCol w="428237"/>
                <a:gridCol w="478032"/>
                <a:gridCol w="478032"/>
              </a:tblGrid>
              <a:tr h="265212">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800" b="0" i="0" u="none" strike="noStrike" dirty="0" smtClean="0">
                          <a:solidFill>
                            <a:schemeClr val="tx1"/>
                          </a:solidFill>
                          <a:latin typeface="Times New Roman" pitchFamily="18" charset="0"/>
                          <a:cs typeface="Times New Roman" pitchFamily="18" charset="0"/>
                        </a:rPr>
                        <a:t>8, </a:t>
                      </a:r>
                      <a:r>
                        <a:rPr lang="en-US" sz="1800" b="0" i="0" u="none" strike="noStrike" dirty="0" smtClean="0">
                          <a:solidFill>
                            <a:srgbClr val="FF0000"/>
                          </a:solidFill>
                          <a:latin typeface="Times New Roman" pitchFamily="18" charset="0"/>
                          <a:cs typeface="Times New Roman" pitchFamily="18" charset="0"/>
                        </a:rPr>
                        <a:t>12</a:t>
                      </a:r>
                      <a:endParaRPr lang="en-US" sz="18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705600" y="5181600"/>
          <a:ext cx="1371600" cy="609600"/>
        </p:xfrm>
        <a:graphic>
          <a:graphicData uri="http://schemas.openxmlformats.org/drawingml/2006/table">
            <a:tbl>
              <a:tblPr/>
              <a:tblGrid>
                <a:gridCol w="424308"/>
                <a:gridCol w="473646"/>
                <a:gridCol w="473646"/>
              </a:tblGrid>
              <a:tr h="3048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2</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304800">
                <a:tc gridSpan="3">
                  <a:txBody>
                    <a:bodyPr/>
                    <a:lstStyle/>
                    <a:p>
                      <a:pPr algn="ctr" fontAlgn="b"/>
                      <a:r>
                        <a:rPr lang="en-US" sz="1800" b="0" i="0" u="none" strike="noStrike" dirty="0">
                          <a:solidFill>
                            <a:srgbClr val="000000"/>
                          </a:solidFill>
                          <a:latin typeface="Times New Roman" pitchFamily="18" charset="0"/>
                          <a:cs typeface="Times New Roman" pitchFamily="18" charset="0"/>
                        </a:rPr>
                        <a:t> </a:t>
                      </a:r>
                      <a:r>
                        <a:rPr lang="en-US" sz="1800" b="0" i="0" u="none" strike="noStrike" dirty="0" smtClean="0">
                          <a:solidFill>
                            <a:srgbClr val="000000"/>
                          </a:solidFill>
                          <a:latin typeface="Times New Roman" pitchFamily="18" charset="0"/>
                          <a:cs typeface="Times New Roman" pitchFamily="18" charset="0"/>
                        </a:rPr>
                        <a:t>3</a:t>
                      </a:r>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883223"/>
          <a:ext cx="914400" cy="1463040"/>
        </p:xfrm>
        <a:graphic>
          <a:graphicData uri="http://schemas.openxmlformats.org/drawingml/2006/table">
            <a:tbl>
              <a:tblPr firstRow="1" bandRow="1">
                <a:tableStyleId>{5C22544A-7EE6-4342-B048-85BDC9FD1C3A}</a:tableStyleId>
              </a:tblPr>
              <a:tblGrid>
                <a:gridCol w="914400"/>
              </a:tblGrid>
              <a:tr h="209550">
                <a:tc>
                  <a:txBody>
                    <a:bodyPr/>
                    <a:lstStyle/>
                    <a:p>
                      <a:pPr algn="ctr"/>
                      <a:r>
                        <a:rPr lang="en-US" dirty="0" smtClean="0"/>
                        <a:t>00</a:t>
                      </a:r>
                      <a:endParaRPr lang="en-US" dirty="0"/>
                    </a:p>
                  </a:txBody>
                  <a:tcPr/>
                </a:tc>
              </a:tr>
              <a:tr h="209550">
                <a:tc>
                  <a:txBody>
                    <a:bodyPr/>
                    <a:lstStyle/>
                    <a:p>
                      <a:pPr algn="ctr"/>
                      <a:r>
                        <a:rPr lang="en-US" dirty="0" smtClean="0"/>
                        <a:t>01</a:t>
                      </a:r>
                      <a:endParaRPr lang="en-US" dirty="0"/>
                    </a:p>
                  </a:txBody>
                  <a:tcPr/>
                </a:tc>
              </a:tr>
              <a:tr h="209550">
                <a:tc>
                  <a:txBody>
                    <a:bodyPr/>
                    <a:lstStyle/>
                    <a:p>
                      <a:pPr algn="ctr"/>
                      <a:r>
                        <a:rPr lang="en-US" dirty="0" smtClean="0"/>
                        <a:t>10</a:t>
                      </a:r>
                      <a:endParaRPr lang="en-US" dirty="0"/>
                    </a:p>
                  </a:txBody>
                  <a:tcPr/>
                </a:tc>
              </a:tr>
              <a:tr h="209550">
                <a:tc>
                  <a:txBody>
                    <a:bodyPr/>
                    <a:lstStyle/>
                    <a:p>
                      <a:pPr algn="ctr"/>
                      <a:r>
                        <a:rPr lang="en-US" dirty="0" smtClean="0"/>
                        <a:t>11</a:t>
                      </a:r>
                      <a:endParaRPr lang="en-US" dirty="0"/>
                    </a:p>
                  </a:txBody>
                  <a:tcPr/>
                </a:tc>
              </a:tr>
            </a:tbl>
          </a:graphicData>
        </a:graphic>
      </p:graphicFrame>
      <p:sp>
        <p:nvSpPr>
          <p:cNvPr id="16" name="TextBox 15"/>
          <p:cNvSpPr txBox="1"/>
          <p:nvPr/>
        </p:nvSpPr>
        <p:spPr>
          <a:xfrm>
            <a:off x="4343400" y="30450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55596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781800" y="58674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910553"/>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858000" y="3200400"/>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504765" y="3588891"/>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2</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648200" y="3426023"/>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401235" y="3962400"/>
            <a:ext cx="1295400" cy="732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01235" y="5172635"/>
            <a:ext cx="12954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6705600" y="4328160"/>
          <a:ext cx="1384301" cy="548640"/>
        </p:xfrm>
        <a:graphic>
          <a:graphicData uri="http://schemas.openxmlformats.org/drawingml/2006/table">
            <a:tbl>
              <a:tblPr/>
              <a:tblGrid>
                <a:gridCol w="428237"/>
                <a:gridCol w="478032"/>
                <a:gridCol w="478032"/>
              </a:tblGrid>
              <a:tr h="265212">
                <a:tc>
                  <a:txBody>
                    <a:bodyPr/>
                    <a:lstStyle/>
                    <a:p>
                      <a:pPr algn="ctr" fontAlgn="b"/>
                      <a:r>
                        <a:rPr lang="en-US" sz="1800" b="0" i="0" u="none" strike="noStrike" dirty="0" smtClean="0">
                          <a:solidFill>
                            <a:srgbClr val="000000"/>
                          </a:solidFill>
                          <a:latin typeface="Times New Roman" pitchFamily="18" charset="0"/>
                          <a:cs typeface="Times New Roman" pitchFamily="18" charset="0"/>
                        </a:rPr>
                        <a:t>2</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800" b="0" i="0" u="none" strike="noStrike" dirty="0" smtClean="0">
                          <a:solidFill>
                            <a:schemeClr val="tx1"/>
                          </a:solidFill>
                          <a:latin typeface="Times New Roman" pitchFamily="18" charset="0"/>
                          <a:cs typeface="Times New Roman" pitchFamily="18" charset="0"/>
                        </a:rPr>
                        <a:t>1, 5, 9</a:t>
                      </a:r>
                      <a:endParaRPr lang="en-US" sz="18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33" name="Table 32"/>
          <p:cNvGraphicFramePr>
            <a:graphicFrameLocks noGrp="1"/>
          </p:cNvGraphicFramePr>
          <p:nvPr/>
        </p:nvGraphicFramePr>
        <p:xfrm>
          <a:off x="1143000" y="2895597"/>
          <a:ext cx="2819400" cy="3048003"/>
        </p:xfrm>
        <a:graphic>
          <a:graphicData uri="http://schemas.openxmlformats.org/drawingml/2006/table">
            <a:tbl>
              <a:tblPr/>
              <a:tblGrid>
                <a:gridCol w="1228969"/>
                <a:gridCol w="1590431"/>
              </a:tblGrid>
              <a:tr h="338667">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a:ea typeface="Times New Roman"/>
                          <a:cs typeface="Times New Roman"/>
                        </a:rPr>
                        <a:t>Binary form</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3</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011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5</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000</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9</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12</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r>
                        <a:rPr lang="en-US" sz="1600" dirty="0">
                          <a:solidFill>
                            <a:srgbClr val="FF0000"/>
                          </a:solidFill>
                          <a:latin typeface="Times New Roman"/>
                          <a:ea typeface="Times New Roman"/>
                          <a:cs typeface="Times New Roman"/>
                        </a:rPr>
                        <a:t>00</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17</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a:latin typeface="Times New Roman"/>
                          <a:ea typeface="Times New Roman"/>
                          <a:cs typeface="Times New Roman"/>
                        </a:rPr>
                        <a:t>001</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28</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100</a:t>
                      </a:r>
                      <a:endParaRPr lang="en-US"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4" name="Straight Arrow Connector 33"/>
          <p:cNvCxnSpPr/>
          <p:nvPr/>
        </p:nvCxnSpPr>
        <p:spPr>
          <a:xfrm flipV="1">
            <a:off x="5401235" y="4038600"/>
            <a:ext cx="1304365" cy="7844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5401235" y="4486835"/>
            <a:ext cx="1304365" cy="2375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Inserting 17 (0</a:t>
            </a:r>
            <a:r>
              <a:rPr lang="en-US" sz="2000" b="1" dirty="0" smtClean="0">
                <a:solidFill>
                  <a:srgbClr val="FF0000"/>
                </a:solidFill>
                <a:latin typeface="Times New Roman" pitchFamily="18" charset="0"/>
                <a:cs typeface="Times New Roman" pitchFamily="18" charset="0"/>
              </a:rPr>
              <a:t>01</a:t>
            </a:r>
            <a:r>
              <a:rPr lang="en-US" sz="2000" dirty="0" smtClean="0">
                <a:latin typeface="Times New Roman" pitchFamily="18" charset="0"/>
                <a:cs typeface="Times New Roman" pitchFamily="18" charset="0"/>
              </a:rPr>
              <a:t>). Adding it to the "01" ID bucket makes it overflow.   </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2" name="Table 11"/>
          <p:cNvGraphicFramePr>
            <a:graphicFrameLocks noGrp="1"/>
          </p:cNvGraphicFramePr>
          <p:nvPr/>
        </p:nvGraphicFramePr>
        <p:xfrm>
          <a:off x="6705600" y="3505200"/>
          <a:ext cx="1384301" cy="548640"/>
        </p:xfrm>
        <a:graphic>
          <a:graphicData uri="http://schemas.openxmlformats.org/drawingml/2006/table">
            <a:tbl>
              <a:tblPr/>
              <a:tblGrid>
                <a:gridCol w="428237"/>
                <a:gridCol w="478032"/>
                <a:gridCol w="478032"/>
              </a:tblGrid>
              <a:tr h="265212">
                <a:tc>
                  <a:txBody>
                    <a:bodyPr/>
                    <a:lstStyle/>
                    <a:p>
                      <a:pPr algn="ctr" fontAlgn="b"/>
                      <a:r>
                        <a:rPr lang="en-US" sz="1800" b="0" i="0" u="none" strike="noStrike" dirty="0" smtClean="0">
                          <a:solidFill>
                            <a:srgbClr val="000000"/>
                          </a:solidFill>
                          <a:latin typeface="Times New Roman" pitchFamily="18" charset="0"/>
                          <a:cs typeface="Times New Roman" pitchFamily="18" charset="0"/>
                        </a:rPr>
                        <a:t>1</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800" b="0" i="0" u="none" strike="noStrike" dirty="0" smtClean="0">
                          <a:solidFill>
                            <a:schemeClr val="tx1"/>
                          </a:solidFill>
                          <a:latin typeface="Times New Roman" pitchFamily="18" charset="0"/>
                          <a:cs typeface="Times New Roman" pitchFamily="18" charset="0"/>
                        </a:rPr>
                        <a:t>8, 12</a:t>
                      </a:r>
                      <a:endParaRPr lang="en-US" sz="18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705600" y="5181600"/>
          <a:ext cx="1371600" cy="609600"/>
        </p:xfrm>
        <a:graphic>
          <a:graphicData uri="http://schemas.openxmlformats.org/drawingml/2006/table">
            <a:tbl>
              <a:tblPr/>
              <a:tblGrid>
                <a:gridCol w="424308"/>
                <a:gridCol w="473646"/>
                <a:gridCol w="473646"/>
              </a:tblGrid>
              <a:tr h="304800">
                <a:tc>
                  <a:txBody>
                    <a:bodyPr/>
                    <a:lstStyle/>
                    <a:p>
                      <a:pPr algn="ctr" fontAlgn="b"/>
                      <a:r>
                        <a:rPr lang="en-US" sz="1800" b="0" i="0" u="none" strike="noStrike" dirty="0" smtClean="0">
                          <a:solidFill>
                            <a:srgbClr val="000000"/>
                          </a:solidFill>
                          <a:latin typeface="Times New Roman" pitchFamily="18" charset="0"/>
                          <a:cs typeface="Times New Roman" pitchFamily="18" charset="0"/>
                        </a:rPr>
                        <a:t>2</a:t>
                      </a:r>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304800">
                <a:tc gridSpan="3">
                  <a:txBody>
                    <a:bodyPr/>
                    <a:lstStyle/>
                    <a:p>
                      <a:pPr algn="ctr" fontAlgn="b"/>
                      <a:r>
                        <a:rPr lang="en-US" sz="1800" b="0" i="0" u="none" strike="noStrike" dirty="0">
                          <a:solidFill>
                            <a:srgbClr val="000000"/>
                          </a:solidFill>
                          <a:latin typeface="Times New Roman" pitchFamily="18" charset="0"/>
                          <a:cs typeface="Times New Roman" pitchFamily="18" charset="0"/>
                        </a:rPr>
                        <a:t> </a:t>
                      </a:r>
                      <a:r>
                        <a:rPr lang="en-US" sz="1800" b="0" i="0" u="none" strike="noStrike" dirty="0" smtClean="0">
                          <a:solidFill>
                            <a:srgbClr val="000000"/>
                          </a:solidFill>
                          <a:latin typeface="Times New Roman" pitchFamily="18" charset="0"/>
                          <a:cs typeface="Times New Roman" pitchFamily="18" charset="0"/>
                        </a:rPr>
                        <a:t>3</a:t>
                      </a:r>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883223"/>
          <a:ext cx="914400" cy="1463040"/>
        </p:xfrm>
        <a:graphic>
          <a:graphicData uri="http://schemas.openxmlformats.org/drawingml/2006/table">
            <a:tbl>
              <a:tblPr firstRow="1" bandRow="1">
                <a:tableStyleId>{5C22544A-7EE6-4342-B048-85BDC9FD1C3A}</a:tableStyleId>
              </a:tblPr>
              <a:tblGrid>
                <a:gridCol w="914400"/>
              </a:tblGrid>
              <a:tr h="209550">
                <a:tc>
                  <a:txBody>
                    <a:bodyPr/>
                    <a:lstStyle/>
                    <a:p>
                      <a:pPr algn="ctr"/>
                      <a:r>
                        <a:rPr lang="en-US" dirty="0" smtClean="0"/>
                        <a:t>00</a:t>
                      </a:r>
                      <a:endParaRPr lang="en-US" dirty="0"/>
                    </a:p>
                  </a:txBody>
                  <a:tcPr/>
                </a:tc>
              </a:tr>
              <a:tr h="209550">
                <a:tc>
                  <a:txBody>
                    <a:bodyPr/>
                    <a:lstStyle/>
                    <a:p>
                      <a:pPr algn="ctr"/>
                      <a:r>
                        <a:rPr lang="en-US" dirty="0" smtClean="0"/>
                        <a:t>01</a:t>
                      </a:r>
                      <a:endParaRPr lang="en-US" dirty="0"/>
                    </a:p>
                  </a:txBody>
                  <a:tcPr/>
                </a:tc>
              </a:tr>
              <a:tr h="209550">
                <a:tc>
                  <a:txBody>
                    <a:bodyPr/>
                    <a:lstStyle/>
                    <a:p>
                      <a:pPr algn="ctr"/>
                      <a:r>
                        <a:rPr lang="en-US" dirty="0" smtClean="0"/>
                        <a:t>10</a:t>
                      </a:r>
                      <a:endParaRPr lang="en-US" dirty="0"/>
                    </a:p>
                  </a:txBody>
                  <a:tcPr/>
                </a:tc>
              </a:tr>
              <a:tr h="209550">
                <a:tc>
                  <a:txBody>
                    <a:bodyPr/>
                    <a:lstStyle/>
                    <a:p>
                      <a:pPr algn="ctr"/>
                      <a:r>
                        <a:rPr lang="en-US" dirty="0" smtClean="0"/>
                        <a:t>11</a:t>
                      </a:r>
                      <a:endParaRPr lang="en-US" dirty="0"/>
                    </a:p>
                  </a:txBody>
                  <a:tcPr/>
                </a:tc>
              </a:tr>
            </a:tbl>
          </a:graphicData>
        </a:graphic>
      </p:graphicFrame>
      <p:sp>
        <p:nvSpPr>
          <p:cNvPr id="16" name="TextBox 15"/>
          <p:cNvSpPr txBox="1"/>
          <p:nvPr/>
        </p:nvSpPr>
        <p:spPr>
          <a:xfrm>
            <a:off x="4343400" y="30450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5559623"/>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781800" y="58674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910553"/>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858000" y="3200400"/>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504765" y="3588891"/>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2</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648200" y="3426023"/>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401235" y="3962400"/>
            <a:ext cx="1295400" cy="7322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01235" y="5172635"/>
            <a:ext cx="12954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6705600" y="4328160"/>
          <a:ext cx="1384301" cy="548640"/>
        </p:xfrm>
        <a:graphic>
          <a:graphicData uri="http://schemas.openxmlformats.org/drawingml/2006/table">
            <a:tbl>
              <a:tblPr/>
              <a:tblGrid>
                <a:gridCol w="428237"/>
                <a:gridCol w="478032"/>
                <a:gridCol w="478032"/>
              </a:tblGrid>
              <a:tr h="265212">
                <a:tc>
                  <a:txBody>
                    <a:bodyPr/>
                    <a:lstStyle/>
                    <a:p>
                      <a:pPr algn="ctr" fontAlgn="b"/>
                      <a:r>
                        <a:rPr lang="en-US" sz="1800" b="0" i="0" u="none" strike="noStrike" dirty="0" smtClean="0">
                          <a:solidFill>
                            <a:srgbClr val="000000"/>
                          </a:solidFill>
                          <a:latin typeface="Times New Roman" pitchFamily="18" charset="0"/>
                          <a:cs typeface="Times New Roman" pitchFamily="18" charset="0"/>
                        </a:rPr>
                        <a:t>2</a:t>
                      </a:r>
                      <a:r>
                        <a:rPr lang="en-US" sz="18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8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800" b="0" i="0" u="none" strike="noStrike" dirty="0" smtClean="0">
                          <a:solidFill>
                            <a:schemeClr val="tx1"/>
                          </a:solidFill>
                          <a:latin typeface="Times New Roman" pitchFamily="18" charset="0"/>
                          <a:cs typeface="Times New Roman" pitchFamily="18" charset="0"/>
                        </a:rPr>
                        <a:t>1, 5, 9, </a:t>
                      </a:r>
                      <a:r>
                        <a:rPr lang="en-US" sz="1800" b="0" i="0" u="none" strike="noStrike" dirty="0" smtClean="0">
                          <a:solidFill>
                            <a:srgbClr val="FF0000"/>
                          </a:solidFill>
                          <a:latin typeface="Times New Roman" pitchFamily="18" charset="0"/>
                          <a:cs typeface="Times New Roman" pitchFamily="18" charset="0"/>
                        </a:rPr>
                        <a:t>17</a:t>
                      </a:r>
                      <a:endParaRPr lang="en-US" sz="18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33" name="Table 32"/>
          <p:cNvGraphicFramePr>
            <a:graphicFrameLocks noGrp="1"/>
          </p:cNvGraphicFramePr>
          <p:nvPr/>
        </p:nvGraphicFramePr>
        <p:xfrm>
          <a:off x="1143000" y="2895597"/>
          <a:ext cx="2819400" cy="3048003"/>
        </p:xfrm>
        <a:graphic>
          <a:graphicData uri="http://schemas.openxmlformats.org/drawingml/2006/table">
            <a:tbl>
              <a:tblPr/>
              <a:tblGrid>
                <a:gridCol w="1228969"/>
                <a:gridCol w="1590431"/>
              </a:tblGrid>
              <a:tr h="338667">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a:ea typeface="Times New Roman"/>
                          <a:cs typeface="Times New Roman"/>
                        </a:rPr>
                        <a:t>Binary form</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3</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011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5</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000</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9</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12</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17</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a:t>
                      </a:r>
                      <a:r>
                        <a:rPr lang="en-US" sz="1600" dirty="0">
                          <a:solidFill>
                            <a:srgbClr val="FF0000"/>
                          </a:solidFill>
                          <a:latin typeface="Times New Roman"/>
                          <a:ea typeface="Times New Roman"/>
                          <a:cs typeface="Times New Roman"/>
                        </a:rPr>
                        <a:t>01</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28</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100</a:t>
                      </a:r>
                      <a:endParaRPr lang="en-US"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4" name="Straight Arrow Connector 33"/>
          <p:cNvCxnSpPr/>
          <p:nvPr/>
        </p:nvCxnSpPr>
        <p:spPr>
          <a:xfrm flipV="1">
            <a:off x="5401235" y="4038600"/>
            <a:ext cx="1304365" cy="7844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5401235" y="4486835"/>
            <a:ext cx="1304365" cy="2375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7696200" y="4038600"/>
            <a:ext cx="11430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Overflow</a:t>
            </a:r>
            <a:endParaRPr lang="en-US" sz="1400" dirty="0">
              <a:latin typeface="Times New Roman" pitchFamily="18" charset="0"/>
              <a:cs typeface="Times New Roman" pitchFamily="18" charset="0"/>
            </a:endParaRPr>
          </a:p>
        </p:txBody>
      </p:sp>
      <p:cxnSp>
        <p:nvCxnSpPr>
          <p:cNvPr id="28" name="Straight Arrow Connector 27"/>
          <p:cNvCxnSpPr/>
          <p:nvPr/>
        </p:nvCxnSpPr>
        <p:spPr>
          <a:xfrm rot="5400000">
            <a:off x="7543800" y="4280645"/>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r>
              <a:rPr lang="en-US" sz="1400" dirty="0" smtClean="0">
                <a:latin typeface="Times New Roman" pitchFamily="18" charset="0"/>
                <a:cs typeface="Times New Roman" pitchFamily="18" charset="0"/>
              </a:rPr>
              <a:t>Since Local Depth = Global Depth, the bucket splits and directory expansion takes place. Rehash the numbers present in the overflowing bucket after splitting the bucket. Global depth is incremented by 1. Now, the global depth is 3. Hence, 1, 5, 9 and 17 are now rehashed w. r. t 3 LSBs. </a:t>
            </a:r>
            <a:endParaRPr kumimoji="0" lang="en-US" sz="1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2" name="Table 11"/>
          <p:cNvGraphicFramePr>
            <a:graphicFrameLocks noGrp="1"/>
          </p:cNvGraphicFramePr>
          <p:nvPr/>
        </p:nvGraphicFramePr>
        <p:xfrm>
          <a:off x="6705600" y="3200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1</a:t>
                      </a:r>
                      <a:r>
                        <a:rPr lang="en-US" sz="1400" b="0" i="0" u="none" strike="noStrike" dirty="0">
                          <a:solidFill>
                            <a:schemeClr val="tx1"/>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8, 12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705600" y="5486400"/>
          <a:ext cx="1371600" cy="533400"/>
        </p:xfrm>
        <a:graphic>
          <a:graphicData uri="http://schemas.openxmlformats.org/drawingml/2006/table">
            <a:tbl>
              <a:tblPr/>
              <a:tblGrid>
                <a:gridCol w="424308"/>
                <a:gridCol w="473646"/>
                <a:gridCol w="473646"/>
              </a:tblGrid>
              <a:tr h="266700">
                <a:tc>
                  <a:txBody>
                    <a:bodyPr/>
                    <a:lstStyle/>
                    <a:p>
                      <a:pPr algn="ctr" fontAlgn="b"/>
                      <a:r>
                        <a:rPr lang="en-US" sz="1400" b="0" i="0" u="none" strike="noStrike" dirty="0" smtClean="0">
                          <a:solidFill>
                            <a:srgbClr val="000000"/>
                          </a:solidFill>
                          <a:latin typeface="Times New Roman" pitchFamily="18" charset="0"/>
                          <a:cs typeface="Times New Roman" pitchFamily="18" charset="0"/>
                        </a:rPr>
                        <a:t>2</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6700">
                <a:tc gridSpan="3">
                  <a:txBody>
                    <a:bodyPr/>
                    <a:lstStyle/>
                    <a:p>
                      <a:pPr algn="ctr" fontAlgn="b"/>
                      <a:r>
                        <a:rPr lang="en-US" sz="1400" b="0" i="0" u="none" strike="noStrike" dirty="0">
                          <a:solidFill>
                            <a:srgbClr val="000000"/>
                          </a:solidFill>
                          <a:latin typeface="Times New Roman" pitchFamily="18" charset="0"/>
                          <a:cs typeface="Times New Roman" pitchFamily="18" charset="0"/>
                        </a:rPr>
                        <a:t> </a:t>
                      </a:r>
                      <a:r>
                        <a:rPr lang="en-US" sz="1400" b="0" i="0" u="none" strike="noStrike" dirty="0" smtClean="0">
                          <a:solidFill>
                            <a:srgbClr val="000000"/>
                          </a:solidFill>
                          <a:latin typeface="Times New Roman" pitchFamily="18" charset="0"/>
                          <a:cs typeface="Times New Roman" pitchFamily="18" charset="0"/>
                        </a:rPr>
                        <a:t>3</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352800"/>
          <a:ext cx="914400" cy="2438400"/>
        </p:xfrm>
        <a:graphic>
          <a:graphicData uri="http://schemas.openxmlformats.org/drawingml/2006/table">
            <a:tbl>
              <a:tblPr firstRow="1" bandRow="1">
                <a:tableStyleId>{5C22544A-7EE6-4342-B048-85BDC9FD1C3A}</a:tableStyleId>
              </a:tblPr>
              <a:tblGrid>
                <a:gridCol w="914400"/>
              </a:tblGrid>
              <a:tr h="226060">
                <a:tc>
                  <a:txBody>
                    <a:bodyPr/>
                    <a:lstStyle/>
                    <a:p>
                      <a:pPr algn="ctr"/>
                      <a:r>
                        <a:rPr lang="en-US" sz="1400" dirty="0" smtClean="0"/>
                        <a:t>000</a:t>
                      </a:r>
                      <a:endParaRPr lang="en-US" sz="1400" dirty="0"/>
                    </a:p>
                  </a:txBody>
                  <a:tcPr/>
                </a:tc>
              </a:tr>
              <a:tr h="226060">
                <a:tc>
                  <a:txBody>
                    <a:bodyPr/>
                    <a:lstStyle/>
                    <a:p>
                      <a:pPr algn="ctr"/>
                      <a:r>
                        <a:rPr lang="en-US" sz="1400" dirty="0" smtClean="0"/>
                        <a:t>001</a:t>
                      </a:r>
                      <a:endParaRPr lang="en-US" sz="1400" dirty="0"/>
                    </a:p>
                  </a:txBody>
                  <a:tcPr/>
                </a:tc>
              </a:tr>
              <a:tr h="226060">
                <a:tc>
                  <a:txBody>
                    <a:bodyPr/>
                    <a:lstStyle/>
                    <a:p>
                      <a:pPr algn="ctr"/>
                      <a:r>
                        <a:rPr lang="en-US" sz="1400" dirty="0" smtClean="0"/>
                        <a:t>010</a:t>
                      </a:r>
                      <a:endParaRPr lang="en-US" sz="1400" dirty="0"/>
                    </a:p>
                  </a:txBody>
                  <a:tcPr/>
                </a:tc>
              </a:tr>
              <a:tr h="226060">
                <a:tc>
                  <a:txBody>
                    <a:bodyPr/>
                    <a:lstStyle/>
                    <a:p>
                      <a:pPr algn="ctr"/>
                      <a:r>
                        <a:rPr lang="en-US" sz="1400" dirty="0" smtClean="0"/>
                        <a:t>011</a:t>
                      </a:r>
                      <a:endParaRPr lang="en-US" sz="1400" dirty="0"/>
                    </a:p>
                  </a:txBody>
                  <a:tcPr/>
                </a:tc>
              </a:tr>
              <a:tr h="226060">
                <a:tc>
                  <a:txBody>
                    <a:bodyPr/>
                    <a:lstStyle/>
                    <a:p>
                      <a:pPr algn="ctr"/>
                      <a:r>
                        <a:rPr lang="en-US" sz="1400" dirty="0" smtClean="0"/>
                        <a:t>100</a:t>
                      </a:r>
                      <a:endParaRPr lang="en-US" sz="1400" dirty="0"/>
                    </a:p>
                  </a:txBody>
                  <a:tcPr/>
                </a:tc>
              </a:tr>
              <a:tr h="226060">
                <a:tc>
                  <a:txBody>
                    <a:bodyPr/>
                    <a:lstStyle/>
                    <a:p>
                      <a:pPr algn="ctr"/>
                      <a:r>
                        <a:rPr lang="en-US" sz="1400" dirty="0" smtClean="0"/>
                        <a:t>101</a:t>
                      </a:r>
                      <a:endParaRPr lang="en-US" sz="1400" dirty="0"/>
                    </a:p>
                  </a:txBody>
                  <a:tcPr/>
                </a:tc>
              </a:tr>
              <a:tr h="226060">
                <a:tc>
                  <a:txBody>
                    <a:bodyPr/>
                    <a:lstStyle/>
                    <a:p>
                      <a:pPr algn="ctr"/>
                      <a:r>
                        <a:rPr lang="en-US" sz="1400" dirty="0" smtClean="0"/>
                        <a:t>110</a:t>
                      </a:r>
                      <a:endParaRPr lang="en-US" sz="1400" dirty="0"/>
                    </a:p>
                  </a:txBody>
                  <a:tcPr/>
                </a:tc>
              </a:tr>
              <a:tr h="226060">
                <a:tc>
                  <a:txBody>
                    <a:bodyPr/>
                    <a:lstStyle/>
                    <a:p>
                      <a:pPr algn="ctr"/>
                      <a:r>
                        <a:rPr lang="en-US" sz="1400" dirty="0" smtClean="0"/>
                        <a:t>111</a:t>
                      </a:r>
                      <a:endParaRPr lang="en-US" sz="1400" dirty="0"/>
                    </a:p>
                  </a:txBody>
                  <a:tcPr/>
                </a:tc>
              </a:tr>
            </a:tbl>
          </a:graphicData>
        </a:graphic>
      </p:graphicFrame>
      <p:sp>
        <p:nvSpPr>
          <p:cNvPr id="16" name="TextBox 15"/>
          <p:cNvSpPr txBox="1"/>
          <p:nvPr/>
        </p:nvSpPr>
        <p:spPr>
          <a:xfrm>
            <a:off x="4343400" y="25908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58674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705600" y="60960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572870"/>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858000" y="2886635"/>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495800" y="3046813"/>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3</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495800" y="2895600"/>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5410200" y="3505201"/>
            <a:ext cx="1295400" cy="761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5029200"/>
            <a:ext cx="12954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6705600" y="4727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rgbClr val="FF0000"/>
                          </a:solidFill>
                          <a:latin typeface="Times New Roman" pitchFamily="18" charset="0"/>
                          <a:cs typeface="Times New Roman" pitchFamily="18" charset="0"/>
                        </a:rPr>
                        <a:t>5</a:t>
                      </a:r>
                      <a:endParaRPr lang="en-US" sz="14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28" name="Straight Arrow Connector 27"/>
          <p:cNvCxnSpPr/>
          <p:nvPr/>
        </p:nvCxnSpPr>
        <p:spPr>
          <a:xfrm>
            <a:off x="5410200" y="3809999"/>
            <a:ext cx="1295400" cy="5334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6" name="Table 25"/>
          <p:cNvGraphicFramePr>
            <a:graphicFrameLocks noGrp="1"/>
          </p:cNvGraphicFramePr>
          <p:nvPr/>
        </p:nvGraphicFramePr>
        <p:xfrm>
          <a:off x="6705600" y="3965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rgbClr val="FF0000"/>
                          </a:solidFill>
                          <a:latin typeface="Times New Roman" pitchFamily="18" charset="0"/>
                          <a:cs typeface="Times New Roman" pitchFamily="18" charset="0"/>
                        </a:rPr>
                        <a:t>1, 9, 17</a:t>
                      </a:r>
                      <a:endParaRPr lang="en-US" sz="14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33" name="Straight Arrow Connector 32"/>
          <p:cNvCxnSpPr/>
          <p:nvPr/>
        </p:nvCxnSpPr>
        <p:spPr>
          <a:xfrm>
            <a:off x="5410200" y="56388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5410200" y="4419600"/>
            <a:ext cx="1295400" cy="1219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5410200" y="3657600"/>
            <a:ext cx="1295400" cy="10668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5" name="Table 34"/>
          <p:cNvGraphicFramePr>
            <a:graphicFrameLocks noGrp="1"/>
          </p:cNvGraphicFramePr>
          <p:nvPr/>
        </p:nvGraphicFramePr>
        <p:xfrm>
          <a:off x="1143000" y="2895597"/>
          <a:ext cx="2819400" cy="3048003"/>
        </p:xfrm>
        <a:graphic>
          <a:graphicData uri="http://schemas.openxmlformats.org/drawingml/2006/table">
            <a:tbl>
              <a:tblPr/>
              <a:tblGrid>
                <a:gridCol w="1228969"/>
                <a:gridCol w="1590431"/>
              </a:tblGrid>
              <a:tr h="338667">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a:ea typeface="Times New Roman"/>
                          <a:cs typeface="Times New Roman"/>
                        </a:rPr>
                        <a:t>Binary form</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001</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3</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011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5</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101</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000</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9</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001</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12</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17</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001</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a:latin typeface="Times New Roman"/>
                          <a:ea typeface="Times New Roman"/>
                          <a:cs typeface="Times New Roman"/>
                        </a:rPr>
                        <a:t>28</a:t>
                      </a:r>
                      <a:endParaRPr lang="en-US" sz="160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latin typeface="Times New Roman"/>
                          <a:ea typeface="Times New Roman"/>
                          <a:cs typeface="Times New Roman"/>
                        </a:rPr>
                        <a:t>100</a:t>
                      </a:r>
                      <a:endParaRPr lang="en-US"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8" name="Straight Arrow Connector 37"/>
          <p:cNvCxnSpPr/>
          <p:nvPr/>
        </p:nvCxnSpPr>
        <p:spPr>
          <a:xfrm flipV="1">
            <a:off x="5410200" y="3657600"/>
            <a:ext cx="1219200" cy="4572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5400000" flipH="1" flipV="1">
            <a:off x="5295900" y="3848100"/>
            <a:ext cx="1600200" cy="1371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 Inserting 28 (</a:t>
            </a:r>
            <a:r>
              <a:rPr lang="en-US" sz="2000" dirty="0" smtClean="0">
                <a:solidFill>
                  <a:srgbClr val="FF0000"/>
                </a:solidFill>
                <a:latin typeface="Times New Roman" pitchFamily="18" charset="0"/>
                <a:cs typeface="Times New Roman" pitchFamily="18" charset="0"/>
              </a:rPr>
              <a:t>1</a:t>
            </a:r>
            <a:r>
              <a:rPr lang="en-US" sz="2000" b="1" dirty="0" smtClean="0">
                <a:solidFill>
                  <a:srgbClr val="FF0000"/>
                </a:solidFill>
                <a:latin typeface="Times New Roman" pitchFamily="18" charset="0"/>
                <a:cs typeface="Times New Roman" pitchFamily="18" charset="0"/>
              </a:rPr>
              <a:t>00</a:t>
            </a:r>
            <a:r>
              <a:rPr lang="en-US" sz="2000" dirty="0" smtClean="0">
                <a:latin typeface="Times New Roman" pitchFamily="18" charset="0"/>
                <a:cs typeface="Times New Roman" pitchFamily="18" charset="0"/>
              </a:rPr>
              <a:t>). Adding it to the “100" ID bucket.</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2" name="Table 11"/>
          <p:cNvGraphicFramePr>
            <a:graphicFrameLocks noGrp="1"/>
          </p:cNvGraphicFramePr>
          <p:nvPr/>
        </p:nvGraphicFramePr>
        <p:xfrm>
          <a:off x="6705600" y="3200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1</a:t>
                      </a:r>
                      <a:r>
                        <a:rPr lang="en-US" sz="1400" b="0" i="0" u="none" strike="noStrike" dirty="0">
                          <a:solidFill>
                            <a:schemeClr val="tx1"/>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8, 12, </a:t>
                      </a:r>
                      <a:r>
                        <a:rPr lang="en-US" sz="1400" b="0" i="0" u="none" strike="noStrike" dirty="0" smtClean="0">
                          <a:solidFill>
                            <a:srgbClr val="FF0000"/>
                          </a:solidFill>
                          <a:latin typeface="Times New Roman" pitchFamily="18" charset="0"/>
                          <a:cs typeface="Times New Roman" pitchFamily="18" charset="0"/>
                        </a:rPr>
                        <a:t>28</a:t>
                      </a:r>
                      <a:endParaRPr lang="en-US" sz="14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705600" y="5486400"/>
          <a:ext cx="1371600" cy="533400"/>
        </p:xfrm>
        <a:graphic>
          <a:graphicData uri="http://schemas.openxmlformats.org/drawingml/2006/table">
            <a:tbl>
              <a:tblPr/>
              <a:tblGrid>
                <a:gridCol w="424308"/>
                <a:gridCol w="473646"/>
                <a:gridCol w="473646"/>
              </a:tblGrid>
              <a:tr h="266700">
                <a:tc>
                  <a:txBody>
                    <a:bodyPr/>
                    <a:lstStyle/>
                    <a:p>
                      <a:pPr algn="ctr" fontAlgn="b"/>
                      <a:r>
                        <a:rPr lang="en-US" sz="1400" b="0" i="0" u="none" strike="noStrike" dirty="0" smtClean="0">
                          <a:solidFill>
                            <a:srgbClr val="000000"/>
                          </a:solidFill>
                          <a:latin typeface="Times New Roman" pitchFamily="18" charset="0"/>
                          <a:cs typeface="Times New Roman" pitchFamily="18" charset="0"/>
                        </a:rPr>
                        <a:t>2</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6700">
                <a:tc gridSpan="3">
                  <a:txBody>
                    <a:bodyPr/>
                    <a:lstStyle/>
                    <a:p>
                      <a:pPr algn="ctr" fontAlgn="b"/>
                      <a:r>
                        <a:rPr lang="en-US" sz="1400" b="0" i="0" u="none" strike="noStrike" dirty="0">
                          <a:solidFill>
                            <a:srgbClr val="000000"/>
                          </a:solidFill>
                          <a:latin typeface="Times New Roman" pitchFamily="18" charset="0"/>
                          <a:cs typeface="Times New Roman" pitchFamily="18" charset="0"/>
                        </a:rPr>
                        <a:t> </a:t>
                      </a:r>
                      <a:r>
                        <a:rPr lang="en-US" sz="1400" b="0" i="0" u="none" strike="noStrike" dirty="0" smtClean="0">
                          <a:solidFill>
                            <a:srgbClr val="000000"/>
                          </a:solidFill>
                          <a:latin typeface="Times New Roman" pitchFamily="18" charset="0"/>
                          <a:cs typeface="Times New Roman" pitchFamily="18" charset="0"/>
                        </a:rPr>
                        <a:t>3</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352800"/>
          <a:ext cx="914400" cy="2438400"/>
        </p:xfrm>
        <a:graphic>
          <a:graphicData uri="http://schemas.openxmlformats.org/drawingml/2006/table">
            <a:tbl>
              <a:tblPr firstRow="1" bandRow="1">
                <a:tableStyleId>{5C22544A-7EE6-4342-B048-85BDC9FD1C3A}</a:tableStyleId>
              </a:tblPr>
              <a:tblGrid>
                <a:gridCol w="914400"/>
              </a:tblGrid>
              <a:tr h="226060">
                <a:tc>
                  <a:txBody>
                    <a:bodyPr/>
                    <a:lstStyle/>
                    <a:p>
                      <a:pPr algn="ctr"/>
                      <a:r>
                        <a:rPr lang="en-US" sz="1400" dirty="0" smtClean="0"/>
                        <a:t>000</a:t>
                      </a:r>
                      <a:endParaRPr lang="en-US" sz="1400" dirty="0"/>
                    </a:p>
                  </a:txBody>
                  <a:tcPr/>
                </a:tc>
              </a:tr>
              <a:tr h="226060">
                <a:tc>
                  <a:txBody>
                    <a:bodyPr/>
                    <a:lstStyle/>
                    <a:p>
                      <a:pPr algn="ctr"/>
                      <a:r>
                        <a:rPr lang="en-US" sz="1400" dirty="0" smtClean="0"/>
                        <a:t>001</a:t>
                      </a:r>
                      <a:endParaRPr lang="en-US" sz="1400" dirty="0"/>
                    </a:p>
                  </a:txBody>
                  <a:tcPr/>
                </a:tc>
              </a:tr>
              <a:tr h="226060">
                <a:tc>
                  <a:txBody>
                    <a:bodyPr/>
                    <a:lstStyle/>
                    <a:p>
                      <a:pPr algn="ctr"/>
                      <a:r>
                        <a:rPr lang="en-US" sz="1400" dirty="0" smtClean="0"/>
                        <a:t>010</a:t>
                      </a:r>
                      <a:endParaRPr lang="en-US" sz="1400" dirty="0"/>
                    </a:p>
                  </a:txBody>
                  <a:tcPr/>
                </a:tc>
              </a:tr>
              <a:tr h="226060">
                <a:tc>
                  <a:txBody>
                    <a:bodyPr/>
                    <a:lstStyle/>
                    <a:p>
                      <a:pPr algn="ctr"/>
                      <a:r>
                        <a:rPr lang="en-US" sz="1400" dirty="0" smtClean="0"/>
                        <a:t>011</a:t>
                      </a:r>
                      <a:endParaRPr lang="en-US" sz="1400" dirty="0"/>
                    </a:p>
                  </a:txBody>
                  <a:tcPr/>
                </a:tc>
              </a:tr>
              <a:tr h="226060">
                <a:tc>
                  <a:txBody>
                    <a:bodyPr/>
                    <a:lstStyle/>
                    <a:p>
                      <a:pPr algn="ctr"/>
                      <a:r>
                        <a:rPr lang="en-US" sz="1400" dirty="0" smtClean="0"/>
                        <a:t>100</a:t>
                      </a:r>
                      <a:endParaRPr lang="en-US" sz="1400" dirty="0"/>
                    </a:p>
                  </a:txBody>
                  <a:tcPr/>
                </a:tc>
              </a:tr>
              <a:tr h="226060">
                <a:tc>
                  <a:txBody>
                    <a:bodyPr/>
                    <a:lstStyle/>
                    <a:p>
                      <a:pPr algn="ctr"/>
                      <a:r>
                        <a:rPr lang="en-US" sz="1400" dirty="0" smtClean="0"/>
                        <a:t>101</a:t>
                      </a:r>
                      <a:endParaRPr lang="en-US" sz="1400" dirty="0"/>
                    </a:p>
                  </a:txBody>
                  <a:tcPr/>
                </a:tc>
              </a:tr>
              <a:tr h="226060">
                <a:tc>
                  <a:txBody>
                    <a:bodyPr/>
                    <a:lstStyle/>
                    <a:p>
                      <a:pPr algn="ctr"/>
                      <a:r>
                        <a:rPr lang="en-US" sz="1400" dirty="0" smtClean="0"/>
                        <a:t>110</a:t>
                      </a:r>
                      <a:endParaRPr lang="en-US" sz="1400" dirty="0"/>
                    </a:p>
                  </a:txBody>
                  <a:tcPr/>
                </a:tc>
              </a:tr>
              <a:tr h="226060">
                <a:tc>
                  <a:txBody>
                    <a:bodyPr/>
                    <a:lstStyle/>
                    <a:p>
                      <a:pPr algn="ctr"/>
                      <a:r>
                        <a:rPr lang="en-US" sz="1400" dirty="0" smtClean="0"/>
                        <a:t>111</a:t>
                      </a:r>
                      <a:endParaRPr lang="en-US" sz="1400" dirty="0"/>
                    </a:p>
                  </a:txBody>
                  <a:tcPr/>
                </a:tc>
              </a:tr>
            </a:tbl>
          </a:graphicData>
        </a:graphic>
      </p:graphicFrame>
      <p:sp>
        <p:nvSpPr>
          <p:cNvPr id="16" name="TextBox 15"/>
          <p:cNvSpPr txBox="1"/>
          <p:nvPr/>
        </p:nvSpPr>
        <p:spPr>
          <a:xfrm>
            <a:off x="4343400" y="25908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58674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705600" y="60960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572870"/>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858000" y="2886635"/>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495800" y="3046813"/>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3</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495800" y="2895600"/>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5410200" y="3505201"/>
            <a:ext cx="1295400" cy="761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5029200"/>
            <a:ext cx="12954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6705600" y="4727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5</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28" name="Straight Arrow Connector 27"/>
          <p:cNvCxnSpPr/>
          <p:nvPr/>
        </p:nvCxnSpPr>
        <p:spPr>
          <a:xfrm>
            <a:off x="5410200" y="3809999"/>
            <a:ext cx="1295400" cy="5334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6" name="Table 25"/>
          <p:cNvGraphicFramePr>
            <a:graphicFrameLocks noGrp="1"/>
          </p:cNvGraphicFramePr>
          <p:nvPr/>
        </p:nvGraphicFramePr>
        <p:xfrm>
          <a:off x="6705600" y="3965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1, 9, 17</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33" name="Straight Arrow Connector 32"/>
          <p:cNvCxnSpPr/>
          <p:nvPr/>
        </p:nvCxnSpPr>
        <p:spPr>
          <a:xfrm>
            <a:off x="5410200" y="56388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5410200" y="4419600"/>
            <a:ext cx="1295400" cy="1219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5410200" y="3657600"/>
            <a:ext cx="1295400" cy="10668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5" name="Table 34"/>
          <p:cNvGraphicFramePr>
            <a:graphicFrameLocks noGrp="1"/>
          </p:cNvGraphicFramePr>
          <p:nvPr/>
        </p:nvGraphicFramePr>
        <p:xfrm>
          <a:off x="1143000" y="2895597"/>
          <a:ext cx="2819400" cy="3048003"/>
        </p:xfrm>
        <a:graphic>
          <a:graphicData uri="http://schemas.openxmlformats.org/drawingml/2006/table">
            <a:tbl>
              <a:tblPr/>
              <a:tblGrid>
                <a:gridCol w="1228969"/>
                <a:gridCol w="1590431"/>
              </a:tblGrid>
              <a:tr h="338667">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a:ea typeface="Times New Roman"/>
                          <a:cs typeface="Times New Roman"/>
                        </a:rPr>
                        <a:t>Binary form</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3</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011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5</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000</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9</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12</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17</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28</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100</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cxnSp>
        <p:nvCxnSpPr>
          <p:cNvPr id="38" name="Straight Arrow Connector 37"/>
          <p:cNvCxnSpPr/>
          <p:nvPr/>
        </p:nvCxnSpPr>
        <p:spPr>
          <a:xfrm flipV="1">
            <a:off x="5410200" y="3657600"/>
            <a:ext cx="1219200" cy="4572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5400000" flipH="1" flipV="1">
            <a:off x="5295900" y="3848100"/>
            <a:ext cx="1600200" cy="1371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 Insert 2 (</a:t>
            </a:r>
            <a:r>
              <a:rPr lang="en-US" sz="2000" b="1" dirty="0" smtClean="0">
                <a:solidFill>
                  <a:srgbClr val="FF0000"/>
                </a:solidFill>
                <a:latin typeface="Times New Roman" pitchFamily="18" charset="0"/>
                <a:cs typeface="Times New Roman" pitchFamily="18" charset="0"/>
              </a:rPr>
              <a:t>010</a:t>
            </a:r>
            <a:r>
              <a:rPr lang="en-US" sz="2000" dirty="0" smtClean="0">
                <a:latin typeface="Times New Roman" pitchFamily="18" charset="0"/>
                <a:cs typeface="Times New Roman" pitchFamily="18" charset="0"/>
              </a:rPr>
              <a:t>). Adding it to the “010" ID bucket makes it overflow.</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2" name="Table 11"/>
          <p:cNvGraphicFramePr>
            <a:graphicFrameLocks noGrp="1"/>
          </p:cNvGraphicFramePr>
          <p:nvPr/>
        </p:nvGraphicFramePr>
        <p:xfrm>
          <a:off x="6705600" y="3200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1</a:t>
                      </a:r>
                      <a:r>
                        <a:rPr lang="en-US" sz="1400" b="0" i="0" u="none" strike="noStrike" dirty="0">
                          <a:solidFill>
                            <a:schemeClr val="tx1"/>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8, 12, 28, </a:t>
                      </a:r>
                      <a:r>
                        <a:rPr lang="en-US" sz="1400" b="0" i="0" u="none" strike="noStrike" dirty="0" smtClean="0">
                          <a:solidFill>
                            <a:srgbClr val="FF0000"/>
                          </a:solidFill>
                          <a:latin typeface="Times New Roman" pitchFamily="18" charset="0"/>
                          <a:cs typeface="Times New Roman" pitchFamily="18" charset="0"/>
                        </a:rPr>
                        <a:t>2</a:t>
                      </a:r>
                      <a:endParaRPr lang="en-US" sz="14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705600" y="5486400"/>
          <a:ext cx="1371600" cy="533400"/>
        </p:xfrm>
        <a:graphic>
          <a:graphicData uri="http://schemas.openxmlformats.org/drawingml/2006/table">
            <a:tbl>
              <a:tblPr/>
              <a:tblGrid>
                <a:gridCol w="424308"/>
                <a:gridCol w="473646"/>
                <a:gridCol w="473646"/>
              </a:tblGrid>
              <a:tr h="266700">
                <a:tc>
                  <a:txBody>
                    <a:bodyPr/>
                    <a:lstStyle/>
                    <a:p>
                      <a:pPr algn="ctr" fontAlgn="b"/>
                      <a:r>
                        <a:rPr lang="en-US" sz="1400" b="0" i="0" u="none" strike="noStrike" dirty="0" smtClean="0">
                          <a:solidFill>
                            <a:srgbClr val="000000"/>
                          </a:solidFill>
                          <a:latin typeface="Times New Roman" pitchFamily="18" charset="0"/>
                          <a:cs typeface="Times New Roman" pitchFamily="18" charset="0"/>
                        </a:rPr>
                        <a:t>2</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6700">
                <a:tc gridSpan="3">
                  <a:txBody>
                    <a:bodyPr/>
                    <a:lstStyle/>
                    <a:p>
                      <a:pPr algn="ctr" fontAlgn="b"/>
                      <a:r>
                        <a:rPr lang="en-US" sz="1400" b="0" i="0" u="none" strike="noStrike" dirty="0">
                          <a:solidFill>
                            <a:srgbClr val="000000"/>
                          </a:solidFill>
                          <a:latin typeface="Times New Roman" pitchFamily="18" charset="0"/>
                          <a:cs typeface="Times New Roman" pitchFamily="18" charset="0"/>
                        </a:rPr>
                        <a:t> </a:t>
                      </a:r>
                      <a:r>
                        <a:rPr lang="en-US" sz="1400" b="0" i="0" u="none" strike="noStrike" dirty="0" smtClean="0">
                          <a:solidFill>
                            <a:srgbClr val="000000"/>
                          </a:solidFill>
                          <a:latin typeface="Times New Roman" pitchFamily="18" charset="0"/>
                          <a:cs typeface="Times New Roman" pitchFamily="18" charset="0"/>
                        </a:rPr>
                        <a:t>3</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352800"/>
          <a:ext cx="914400" cy="2438400"/>
        </p:xfrm>
        <a:graphic>
          <a:graphicData uri="http://schemas.openxmlformats.org/drawingml/2006/table">
            <a:tbl>
              <a:tblPr firstRow="1" bandRow="1">
                <a:tableStyleId>{5C22544A-7EE6-4342-B048-85BDC9FD1C3A}</a:tableStyleId>
              </a:tblPr>
              <a:tblGrid>
                <a:gridCol w="914400"/>
              </a:tblGrid>
              <a:tr h="226060">
                <a:tc>
                  <a:txBody>
                    <a:bodyPr/>
                    <a:lstStyle/>
                    <a:p>
                      <a:pPr algn="ctr"/>
                      <a:r>
                        <a:rPr lang="en-US" sz="1400" dirty="0" smtClean="0"/>
                        <a:t>000</a:t>
                      </a:r>
                      <a:endParaRPr lang="en-US" sz="1400" dirty="0"/>
                    </a:p>
                  </a:txBody>
                  <a:tcPr/>
                </a:tc>
              </a:tr>
              <a:tr h="226060">
                <a:tc>
                  <a:txBody>
                    <a:bodyPr/>
                    <a:lstStyle/>
                    <a:p>
                      <a:pPr algn="ctr"/>
                      <a:r>
                        <a:rPr lang="en-US" sz="1400" dirty="0" smtClean="0"/>
                        <a:t>001</a:t>
                      </a:r>
                      <a:endParaRPr lang="en-US" sz="1400" dirty="0"/>
                    </a:p>
                  </a:txBody>
                  <a:tcPr/>
                </a:tc>
              </a:tr>
              <a:tr h="226060">
                <a:tc>
                  <a:txBody>
                    <a:bodyPr/>
                    <a:lstStyle/>
                    <a:p>
                      <a:pPr algn="ctr"/>
                      <a:r>
                        <a:rPr lang="en-US" sz="1400" dirty="0" smtClean="0"/>
                        <a:t>010</a:t>
                      </a:r>
                      <a:endParaRPr lang="en-US" sz="1400" dirty="0"/>
                    </a:p>
                  </a:txBody>
                  <a:tcPr/>
                </a:tc>
              </a:tr>
              <a:tr h="226060">
                <a:tc>
                  <a:txBody>
                    <a:bodyPr/>
                    <a:lstStyle/>
                    <a:p>
                      <a:pPr algn="ctr"/>
                      <a:r>
                        <a:rPr lang="en-US" sz="1400" dirty="0" smtClean="0"/>
                        <a:t>011</a:t>
                      </a:r>
                      <a:endParaRPr lang="en-US" sz="1400" dirty="0"/>
                    </a:p>
                  </a:txBody>
                  <a:tcPr/>
                </a:tc>
              </a:tr>
              <a:tr h="226060">
                <a:tc>
                  <a:txBody>
                    <a:bodyPr/>
                    <a:lstStyle/>
                    <a:p>
                      <a:pPr algn="ctr"/>
                      <a:r>
                        <a:rPr lang="en-US" sz="1400" dirty="0" smtClean="0"/>
                        <a:t>100</a:t>
                      </a:r>
                      <a:endParaRPr lang="en-US" sz="1400" dirty="0"/>
                    </a:p>
                  </a:txBody>
                  <a:tcPr/>
                </a:tc>
              </a:tr>
              <a:tr h="226060">
                <a:tc>
                  <a:txBody>
                    <a:bodyPr/>
                    <a:lstStyle/>
                    <a:p>
                      <a:pPr algn="ctr"/>
                      <a:r>
                        <a:rPr lang="en-US" sz="1400" dirty="0" smtClean="0"/>
                        <a:t>101</a:t>
                      </a:r>
                      <a:endParaRPr lang="en-US" sz="1400" dirty="0"/>
                    </a:p>
                  </a:txBody>
                  <a:tcPr/>
                </a:tc>
              </a:tr>
              <a:tr h="226060">
                <a:tc>
                  <a:txBody>
                    <a:bodyPr/>
                    <a:lstStyle/>
                    <a:p>
                      <a:pPr algn="ctr"/>
                      <a:r>
                        <a:rPr lang="en-US" sz="1400" dirty="0" smtClean="0"/>
                        <a:t>110</a:t>
                      </a:r>
                      <a:endParaRPr lang="en-US" sz="1400" dirty="0"/>
                    </a:p>
                  </a:txBody>
                  <a:tcPr/>
                </a:tc>
              </a:tr>
              <a:tr h="226060">
                <a:tc>
                  <a:txBody>
                    <a:bodyPr/>
                    <a:lstStyle/>
                    <a:p>
                      <a:pPr algn="ctr"/>
                      <a:r>
                        <a:rPr lang="en-US" sz="1400" dirty="0" smtClean="0"/>
                        <a:t>111</a:t>
                      </a:r>
                      <a:endParaRPr lang="en-US" sz="1400" dirty="0"/>
                    </a:p>
                  </a:txBody>
                  <a:tcPr/>
                </a:tc>
              </a:tr>
            </a:tbl>
          </a:graphicData>
        </a:graphic>
      </p:graphicFrame>
      <p:sp>
        <p:nvSpPr>
          <p:cNvPr id="16" name="TextBox 15"/>
          <p:cNvSpPr txBox="1"/>
          <p:nvPr/>
        </p:nvSpPr>
        <p:spPr>
          <a:xfrm>
            <a:off x="4343400" y="25908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58674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705600" y="60960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2" name="TextBox 21"/>
          <p:cNvSpPr txBox="1"/>
          <p:nvPr/>
        </p:nvSpPr>
        <p:spPr>
          <a:xfrm>
            <a:off x="6781800" y="2572870"/>
            <a:ext cx="1676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Local/Bucket  Depth</a:t>
            </a:r>
            <a:endParaRPr lang="en-US" sz="1400" dirty="0">
              <a:latin typeface="Times New Roman" pitchFamily="18" charset="0"/>
              <a:cs typeface="Times New Roman" pitchFamily="18" charset="0"/>
            </a:endParaRPr>
          </a:p>
        </p:txBody>
      </p:sp>
      <p:cxnSp>
        <p:nvCxnSpPr>
          <p:cNvPr id="24" name="Straight Arrow Connector 23"/>
          <p:cNvCxnSpPr/>
          <p:nvPr/>
        </p:nvCxnSpPr>
        <p:spPr>
          <a:xfrm rot="5400000">
            <a:off x="6858000" y="2886635"/>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495800" y="3046813"/>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3</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495800" y="2895600"/>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5410200" y="3505201"/>
            <a:ext cx="1295400" cy="761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5029200"/>
            <a:ext cx="12954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6705600" y="4727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5</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28" name="Straight Arrow Connector 27"/>
          <p:cNvCxnSpPr/>
          <p:nvPr/>
        </p:nvCxnSpPr>
        <p:spPr>
          <a:xfrm>
            <a:off x="5410200" y="3809999"/>
            <a:ext cx="1295400" cy="5334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6" name="Table 25"/>
          <p:cNvGraphicFramePr>
            <a:graphicFrameLocks noGrp="1"/>
          </p:cNvGraphicFramePr>
          <p:nvPr/>
        </p:nvGraphicFramePr>
        <p:xfrm>
          <a:off x="6705600" y="3965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1, 9, 17</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33" name="Straight Arrow Connector 32"/>
          <p:cNvCxnSpPr/>
          <p:nvPr/>
        </p:nvCxnSpPr>
        <p:spPr>
          <a:xfrm>
            <a:off x="5410200" y="56388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5410200" y="4419600"/>
            <a:ext cx="1295400" cy="1219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5410200" y="3657600"/>
            <a:ext cx="1295400" cy="10668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5410200" y="3657600"/>
            <a:ext cx="1219200" cy="4572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5400000" flipH="1" flipV="1">
            <a:off x="5295900" y="3848100"/>
            <a:ext cx="1600200" cy="1371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7696200" y="2904565"/>
            <a:ext cx="11430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Overflow</a:t>
            </a:r>
            <a:endParaRPr lang="en-US" sz="1400" dirty="0">
              <a:latin typeface="Times New Roman" pitchFamily="18" charset="0"/>
              <a:cs typeface="Times New Roman" pitchFamily="18" charset="0"/>
            </a:endParaRPr>
          </a:p>
        </p:txBody>
      </p:sp>
      <p:cxnSp>
        <p:nvCxnSpPr>
          <p:cNvPr id="32" name="Straight Arrow Connector 31"/>
          <p:cNvCxnSpPr/>
          <p:nvPr/>
        </p:nvCxnSpPr>
        <p:spPr>
          <a:xfrm rot="5400000">
            <a:off x="7543800" y="3146610"/>
            <a:ext cx="3048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 Insert 2 (</a:t>
            </a:r>
            <a:r>
              <a:rPr lang="en-US" sz="2000" b="1" dirty="0" smtClean="0">
                <a:solidFill>
                  <a:srgbClr val="FF0000"/>
                </a:solidFill>
                <a:latin typeface="Times New Roman" pitchFamily="18" charset="0"/>
                <a:cs typeface="Times New Roman" pitchFamily="18" charset="0"/>
              </a:rPr>
              <a:t>010</a:t>
            </a:r>
            <a:r>
              <a:rPr lang="en-US" sz="2000" dirty="0" smtClean="0">
                <a:latin typeface="Times New Roman" pitchFamily="18" charset="0"/>
                <a:cs typeface="Times New Roman" pitchFamily="18" charset="0"/>
              </a:rPr>
              <a:t>).</a:t>
            </a:r>
          </a:p>
          <a:p>
            <a:pPr marL="342900" lvl="0" indent="-342900" algn="just">
              <a:spcBef>
                <a:spcPct val="20000"/>
              </a:spcBef>
            </a:pPr>
            <a:endPar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2" name="Table 11"/>
          <p:cNvGraphicFramePr>
            <a:graphicFrameLocks noGrp="1"/>
          </p:cNvGraphicFramePr>
          <p:nvPr/>
        </p:nvGraphicFramePr>
        <p:xfrm>
          <a:off x="6705600" y="3200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rgbClr val="FF0000"/>
                          </a:solidFill>
                          <a:latin typeface="Times New Roman" pitchFamily="18" charset="0"/>
                          <a:cs typeface="Times New Roman" pitchFamily="18" charset="0"/>
                        </a:rPr>
                        <a:t>2</a:t>
                      </a:r>
                      <a:endParaRPr lang="en-US" sz="14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705600" y="5486400"/>
          <a:ext cx="1371600" cy="533400"/>
        </p:xfrm>
        <a:graphic>
          <a:graphicData uri="http://schemas.openxmlformats.org/drawingml/2006/table">
            <a:tbl>
              <a:tblPr/>
              <a:tblGrid>
                <a:gridCol w="424308"/>
                <a:gridCol w="473646"/>
                <a:gridCol w="473646"/>
              </a:tblGrid>
              <a:tr h="266700">
                <a:tc>
                  <a:txBody>
                    <a:bodyPr/>
                    <a:lstStyle/>
                    <a:p>
                      <a:pPr algn="ctr" fontAlgn="b"/>
                      <a:r>
                        <a:rPr lang="en-US" sz="1400" b="0" i="0" u="none" strike="noStrike" dirty="0" smtClean="0">
                          <a:solidFill>
                            <a:srgbClr val="000000"/>
                          </a:solidFill>
                          <a:latin typeface="Times New Roman" pitchFamily="18" charset="0"/>
                          <a:cs typeface="Times New Roman" pitchFamily="18" charset="0"/>
                        </a:rPr>
                        <a:t>2</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6700">
                <a:tc gridSpan="3">
                  <a:txBody>
                    <a:bodyPr/>
                    <a:lstStyle/>
                    <a:p>
                      <a:pPr algn="ctr" fontAlgn="b"/>
                      <a:r>
                        <a:rPr lang="en-US" sz="1400" b="0" i="0" u="none" strike="noStrike" dirty="0">
                          <a:solidFill>
                            <a:srgbClr val="000000"/>
                          </a:solidFill>
                          <a:latin typeface="Times New Roman" pitchFamily="18" charset="0"/>
                          <a:cs typeface="Times New Roman" pitchFamily="18" charset="0"/>
                        </a:rPr>
                        <a:t> </a:t>
                      </a:r>
                      <a:r>
                        <a:rPr lang="en-US" sz="1400" b="0" i="0" u="none" strike="noStrike" dirty="0" smtClean="0">
                          <a:solidFill>
                            <a:srgbClr val="000000"/>
                          </a:solidFill>
                          <a:latin typeface="Times New Roman" pitchFamily="18" charset="0"/>
                          <a:cs typeface="Times New Roman" pitchFamily="18" charset="0"/>
                        </a:rPr>
                        <a:t>3</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352800"/>
          <a:ext cx="914400" cy="2438400"/>
        </p:xfrm>
        <a:graphic>
          <a:graphicData uri="http://schemas.openxmlformats.org/drawingml/2006/table">
            <a:tbl>
              <a:tblPr firstRow="1" bandRow="1">
                <a:tableStyleId>{5C22544A-7EE6-4342-B048-85BDC9FD1C3A}</a:tableStyleId>
              </a:tblPr>
              <a:tblGrid>
                <a:gridCol w="914400"/>
              </a:tblGrid>
              <a:tr h="226060">
                <a:tc>
                  <a:txBody>
                    <a:bodyPr/>
                    <a:lstStyle/>
                    <a:p>
                      <a:pPr algn="ctr"/>
                      <a:r>
                        <a:rPr lang="en-US" sz="1400" dirty="0" smtClean="0"/>
                        <a:t>000</a:t>
                      </a:r>
                      <a:endParaRPr lang="en-US" sz="1400" dirty="0"/>
                    </a:p>
                  </a:txBody>
                  <a:tcPr/>
                </a:tc>
              </a:tr>
              <a:tr h="226060">
                <a:tc>
                  <a:txBody>
                    <a:bodyPr/>
                    <a:lstStyle/>
                    <a:p>
                      <a:pPr algn="ctr"/>
                      <a:r>
                        <a:rPr lang="en-US" sz="1400" dirty="0" smtClean="0"/>
                        <a:t>001</a:t>
                      </a:r>
                      <a:endParaRPr lang="en-US" sz="1400" dirty="0"/>
                    </a:p>
                  </a:txBody>
                  <a:tcPr/>
                </a:tc>
              </a:tr>
              <a:tr h="226060">
                <a:tc>
                  <a:txBody>
                    <a:bodyPr/>
                    <a:lstStyle/>
                    <a:p>
                      <a:pPr algn="ctr"/>
                      <a:r>
                        <a:rPr lang="en-US" sz="1400" dirty="0" smtClean="0"/>
                        <a:t>010</a:t>
                      </a:r>
                      <a:endParaRPr lang="en-US" sz="1400" dirty="0"/>
                    </a:p>
                  </a:txBody>
                  <a:tcPr/>
                </a:tc>
              </a:tr>
              <a:tr h="226060">
                <a:tc>
                  <a:txBody>
                    <a:bodyPr/>
                    <a:lstStyle/>
                    <a:p>
                      <a:pPr algn="ctr"/>
                      <a:r>
                        <a:rPr lang="en-US" sz="1400" dirty="0" smtClean="0"/>
                        <a:t>011</a:t>
                      </a:r>
                      <a:endParaRPr lang="en-US" sz="1400" dirty="0"/>
                    </a:p>
                  </a:txBody>
                  <a:tcPr/>
                </a:tc>
              </a:tr>
              <a:tr h="226060">
                <a:tc>
                  <a:txBody>
                    <a:bodyPr/>
                    <a:lstStyle/>
                    <a:p>
                      <a:pPr algn="ctr"/>
                      <a:r>
                        <a:rPr lang="en-US" sz="1400" dirty="0" smtClean="0"/>
                        <a:t>100</a:t>
                      </a:r>
                      <a:endParaRPr lang="en-US" sz="1400" dirty="0"/>
                    </a:p>
                  </a:txBody>
                  <a:tcPr/>
                </a:tc>
              </a:tr>
              <a:tr h="226060">
                <a:tc>
                  <a:txBody>
                    <a:bodyPr/>
                    <a:lstStyle/>
                    <a:p>
                      <a:pPr algn="ctr"/>
                      <a:r>
                        <a:rPr lang="en-US" sz="1400" dirty="0" smtClean="0"/>
                        <a:t>101</a:t>
                      </a:r>
                      <a:endParaRPr lang="en-US" sz="1400" dirty="0"/>
                    </a:p>
                  </a:txBody>
                  <a:tcPr/>
                </a:tc>
              </a:tr>
              <a:tr h="226060">
                <a:tc>
                  <a:txBody>
                    <a:bodyPr/>
                    <a:lstStyle/>
                    <a:p>
                      <a:pPr algn="ctr"/>
                      <a:r>
                        <a:rPr lang="en-US" sz="1400" dirty="0" smtClean="0"/>
                        <a:t>110</a:t>
                      </a:r>
                      <a:endParaRPr lang="en-US" sz="1400" dirty="0"/>
                    </a:p>
                  </a:txBody>
                  <a:tcPr/>
                </a:tc>
              </a:tr>
              <a:tr h="226060">
                <a:tc>
                  <a:txBody>
                    <a:bodyPr/>
                    <a:lstStyle/>
                    <a:p>
                      <a:pPr algn="ctr"/>
                      <a:r>
                        <a:rPr lang="en-US" sz="1400" dirty="0" smtClean="0"/>
                        <a:t>111</a:t>
                      </a:r>
                      <a:endParaRPr lang="en-US" sz="1400" dirty="0"/>
                    </a:p>
                  </a:txBody>
                  <a:tcPr/>
                </a:tc>
              </a:tr>
            </a:tbl>
          </a:graphicData>
        </a:graphic>
      </p:graphicFrame>
      <p:sp>
        <p:nvSpPr>
          <p:cNvPr id="16" name="TextBox 15"/>
          <p:cNvSpPr txBox="1"/>
          <p:nvPr/>
        </p:nvSpPr>
        <p:spPr>
          <a:xfrm>
            <a:off x="4343400" y="25908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58674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705600" y="60960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5" name="TextBox 24"/>
          <p:cNvSpPr txBox="1"/>
          <p:nvPr/>
        </p:nvSpPr>
        <p:spPr>
          <a:xfrm>
            <a:off x="4495800" y="3046813"/>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3</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495800" y="2895600"/>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410200" y="2590800"/>
            <a:ext cx="1295400" cy="9144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5029200"/>
            <a:ext cx="12954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6705600" y="4727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5</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28" name="Straight Arrow Connector 27"/>
          <p:cNvCxnSpPr/>
          <p:nvPr/>
        </p:nvCxnSpPr>
        <p:spPr>
          <a:xfrm>
            <a:off x="5410200" y="3809999"/>
            <a:ext cx="1295400" cy="5334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6" name="Table 25"/>
          <p:cNvGraphicFramePr>
            <a:graphicFrameLocks noGrp="1"/>
          </p:cNvGraphicFramePr>
          <p:nvPr/>
        </p:nvGraphicFramePr>
        <p:xfrm>
          <a:off x="6705600" y="3965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1, 9, 17</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33" name="Straight Arrow Connector 32"/>
          <p:cNvCxnSpPr/>
          <p:nvPr/>
        </p:nvCxnSpPr>
        <p:spPr>
          <a:xfrm>
            <a:off x="5410200" y="56388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5410200" y="4419600"/>
            <a:ext cx="1295400" cy="1219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rot="5400000" flipH="1" flipV="1">
            <a:off x="5105399" y="3124201"/>
            <a:ext cx="1905002" cy="1295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5410200" y="3657600"/>
            <a:ext cx="1219200" cy="4572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5400000" flipH="1" flipV="1">
            <a:off x="5295900" y="3848100"/>
            <a:ext cx="1600200" cy="1371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5" name="Content Placeholder 16"/>
          <p:cNvSpPr txBox="1">
            <a:spLocks/>
          </p:cNvSpPr>
          <p:nvPr/>
        </p:nvSpPr>
        <p:spPr>
          <a:xfrm>
            <a:off x="381000" y="2133600"/>
            <a:ext cx="3962400" cy="1524000"/>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tabLst/>
              <a:defRPr/>
            </a:pPr>
            <a:r>
              <a:rPr lang="en-US" sz="1600" dirty="0" smtClean="0">
                <a:latin typeface="Times New Roman" pitchFamily="18" charset="0"/>
                <a:cs typeface="Times New Roman" pitchFamily="18" charset="0"/>
              </a:rPr>
              <a:t>	Here Bucket depth is less than global depth. So, only the bucket split is executed. Elements (8, 12, 28, 2) are re-hashed according to the global depth, which is still 3. </a:t>
            </a:r>
            <a:endPar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36" name="Table 35"/>
          <p:cNvGraphicFramePr>
            <a:graphicFrameLocks noGrp="1"/>
          </p:cNvGraphicFramePr>
          <p:nvPr/>
        </p:nvGraphicFramePr>
        <p:xfrm>
          <a:off x="6692899" y="2438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2</a:t>
                      </a:r>
                      <a:r>
                        <a:rPr lang="en-US" sz="1400" b="0" i="0" u="none" strike="noStrike" dirty="0">
                          <a:solidFill>
                            <a:schemeClr val="tx1"/>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rgbClr val="FF0000"/>
                          </a:solidFill>
                          <a:latin typeface="Times New Roman" pitchFamily="18" charset="0"/>
                          <a:cs typeface="Times New Roman" pitchFamily="18" charset="0"/>
                        </a:rPr>
                        <a:t>8, 12, 28</a:t>
                      </a:r>
                      <a:endParaRPr lang="en-US" sz="14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41" name="Table 40"/>
          <p:cNvGraphicFramePr>
            <a:graphicFrameLocks noGrp="1"/>
          </p:cNvGraphicFramePr>
          <p:nvPr/>
        </p:nvGraphicFramePr>
        <p:xfrm>
          <a:off x="1066800" y="3428997"/>
          <a:ext cx="2819400" cy="3048003"/>
        </p:xfrm>
        <a:graphic>
          <a:graphicData uri="http://schemas.openxmlformats.org/drawingml/2006/table">
            <a:tbl>
              <a:tblPr/>
              <a:tblGrid>
                <a:gridCol w="1228969"/>
                <a:gridCol w="1590431"/>
              </a:tblGrid>
              <a:tr h="338667">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a:ea typeface="Times New Roman"/>
                          <a:cs typeface="Times New Roman"/>
                        </a:rPr>
                        <a:t>Binary form</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3</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011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5</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8</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000</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9</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12</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100</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17</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28</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100</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 ii) Insert 24 (</a:t>
            </a:r>
            <a:r>
              <a:rPr lang="en-US" sz="2000" b="1" dirty="0" smtClean="0">
                <a:solidFill>
                  <a:srgbClr val="FF0000"/>
                </a:solidFill>
                <a:latin typeface="Times New Roman" pitchFamily="18" charset="0"/>
                <a:cs typeface="Times New Roman" pitchFamily="18" charset="0"/>
              </a:rPr>
              <a:t>000</a:t>
            </a:r>
            <a:r>
              <a:rPr lang="en-US" sz="2000" dirty="0" smtClean="0">
                <a:latin typeface="Times New Roman" pitchFamily="18" charset="0"/>
                <a:cs typeface="Times New Roman" pitchFamily="18" charset="0"/>
              </a:rPr>
              <a:t>). Adding it to the “000" ID bucket makes it overflow.</a:t>
            </a:r>
          </a:p>
          <a:p>
            <a:pPr marL="342900" lvl="0" indent="-342900" algn="just">
              <a:spcBef>
                <a:spcPct val="20000"/>
              </a:spcBef>
            </a:pPr>
            <a:endPar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2" name="Table 11"/>
          <p:cNvGraphicFramePr>
            <a:graphicFrameLocks noGrp="1"/>
          </p:cNvGraphicFramePr>
          <p:nvPr/>
        </p:nvGraphicFramePr>
        <p:xfrm>
          <a:off x="6705600" y="3200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705600" y="5486400"/>
          <a:ext cx="1371600" cy="533400"/>
        </p:xfrm>
        <a:graphic>
          <a:graphicData uri="http://schemas.openxmlformats.org/drawingml/2006/table">
            <a:tbl>
              <a:tblPr/>
              <a:tblGrid>
                <a:gridCol w="424308"/>
                <a:gridCol w="473646"/>
                <a:gridCol w="473646"/>
              </a:tblGrid>
              <a:tr h="266700">
                <a:tc>
                  <a:txBody>
                    <a:bodyPr/>
                    <a:lstStyle/>
                    <a:p>
                      <a:pPr algn="ctr" fontAlgn="b"/>
                      <a:r>
                        <a:rPr lang="en-US" sz="1400" b="0" i="0" u="none" strike="noStrike" dirty="0" smtClean="0">
                          <a:solidFill>
                            <a:srgbClr val="000000"/>
                          </a:solidFill>
                          <a:latin typeface="Times New Roman" pitchFamily="18" charset="0"/>
                          <a:cs typeface="Times New Roman" pitchFamily="18" charset="0"/>
                        </a:rPr>
                        <a:t>2</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6700">
                <a:tc gridSpan="3">
                  <a:txBody>
                    <a:bodyPr/>
                    <a:lstStyle/>
                    <a:p>
                      <a:pPr algn="ctr" fontAlgn="b"/>
                      <a:r>
                        <a:rPr lang="en-US" sz="1400" b="0" i="0" u="none" strike="noStrike" dirty="0">
                          <a:solidFill>
                            <a:srgbClr val="000000"/>
                          </a:solidFill>
                          <a:latin typeface="Times New Roman" pitchFamily="18" charset="0"/>
                          <a:cs typeface="Times New Roman" pitchFamily="18" charset="0"/>
                        </a:rPr>
                        <a:t> </a:t>
                      </a:r>
                      <a:r>
                        <a:rPr lang="en-US" sz="1400" b="0" i="0" u="none" strike="noStrike" dirty="0" smtClean="0">
                          <a:solidFill>
                            <a:srgbClr val="000000"/>
                          </a:solidFill>
                          <a:latin typeface="Times New Roman" pitchFamily="18" charset="0"/>
                          <a:cs typeface="Times New Roman" pitchFamily="18" charset="0"/>
                        </a:rPr>
                        <a:t>3</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352800"/>
          <a:ext cx="914400" cy="2438400"/>
        </p:xfrm>
        <a:graphic>
          <a:graphicData uri="http://schemas.openxmlformats.org/drawingml/2006/table">
            <a:tbl>
              <a:tblPr firstRow="1" bandRow="1">
                <a:tableStyleId>{5C22544A-7EE6-4342-B048-85BDC9FD1C3A}</a:tableStyleId>
              </a:tblPr>
              <a:tblGrid>
                <a:gridCol w="914400"/>
              </a:tblGrid>
              <a:tr h="226060">
                <a:tc>
                  <a:txBody>
                    <a:bodyPr/>
                    <a:lstStyle/>
                    <a:p>
                      <a:pPr algn="ctr"/>
                      <a:r>
                        <a:rPr lang="en-US" sz="1400" dirty="0" smtClean="0"/>
                        <a:t>000</a:t>
                      </a:r>
                      <a:endParaRPr lang="en-US" sz="1400" dirty="0"/>
                    </a:p>
                  </a:txBody>
                  <a:tcPr/>
                </a:tc>
              </a:tr>
              <a:tr h="226060">
                <a:tc>
                  <a:txBody>
                    <a:bodyPr/>
                    <a:lstStyle/>
                    <a:p>
                      <a:pPr algn="ctr"/>
                      <a:r>
                        <a:rPr lang="en-US" sz="1400" dirty="0" smtClean="0"/>
                        <a:t>001</a:t>
                      </a:r>
                      <a:endParaRPr lang="en-US" sz="1400" dirty="0"/>
                    </a:p>
                  </a:txBody>
                  <a:tcPr/>
                </a:tc>
              </a:tr>
              <a:tr h="226060">
                <a:tc>
                  <a:txBody>
                    <a:bodyPr/>
                    <a:lstStyle/>
                    <a:p>
                      <a:pPr algn="ctr"/>
                      <a:r>
                        <a:rPr lang="en-US" sz="1400" dirty="0" smtClean="0"/>
                        <a:t>010</a:t>
                      </a:r>
                      <a:endParaRPr lang="en-US" sz="1400" dirty="0"/>
                    </a:p>
                  </a:txBody>
                  <a:tcPr/>
                </a:tc>
              </a:tr>
              <a:tr h="226060">
                <a:tc>
                  <a:txBody>
                    <a:bodyPr/>
                    <a:lstStyle/>
                    <a:p>
                      <a:pPr algn="ctr"/>
                      <a:r>
                        <a:rPr lang="en-US" sz="1400" dirty="0" smtClean="0"/>
                        <a:t>011</a:t>
                      </a:r>
                      <a:endParaRPr lang="en-US" sz="1400" dirty="0"/>
                    </a:p>
                  </a:txBody>
                  <a:tcPr/>
                </a:tc>
              </a:tr>
              <a:tr h="226060">
                <a:tc>
                  <a:txBody>
                    <a:bodyPr/>
                    <a:lstStyle/>
                    <a:p>
                      <a:pPr algn="ctr"/>
                      <a:r>
                        <a:rPr lang="en-US" sz="1400" dirty="0" smtClean="0"/>
                        <a:t>100</a:t>
                      </a:r>
                      <a:endParaRPr lang="en-US" sz="1400" dirty="0"/>
                    </a:p>
                  </a:txBody>
                  <a:tcPr/>
                </a:tc>
              </a:tr>
              <a:tr h="226060">
                <a:tc>
                  <a:txBody>
                    <a:bodyPr/>
                    <a:lstStyle/>
                    <a:p>
                      <a:pPr algn="ctr"/>
                      <a:r>
                        <a:rPr lang="en-US" sz="1400" dirty="0" smtClean="0"/>
                        <a:t>101</a:t>
                      </a:r>
                      <a:endParaRPr lang="en-US" sz="1400" dirty="0"/>
                    </a:p>
                  </a:txBody>
                  <a:tcPr/>
                </a:tc>
              </a:tr>
              <a:tr h="226060">
                <a:tc>
                  <a:txBody>
                    <a:bodyPr/>
                    <a:lstStyle/>
                    <a:p>
                      <a:pPr algn="ctr"/>
                      <a:r>
                        <a:rPr lang="en-US" sz="1400" dirty="0" smtClean="0"/>
                        <a:t>110</a:t>
                      </a:r>
                      <a:endParaRPr lang="en-US" sz="1400" dirty="0"/>
                    </a:p>
                  </a:txBody>
                  <a:tcPr/>
                </a:tc>
              </a:tr>
              <a:tr h="226060">
                <a:tc>
                  <a:txBody>
                    <a:bodyPr/>
                    <a:lstStyle/>
                    <a:p>
                      <a:pPr algn="ctr"/>
                      <a:r>
                        <a:rPr lang="en-US" sz="1400" dirty="0" smtClean="0"/>
                        <a:t>111</a:t>
                      </a:r>
                      <a:endParaRPr lang="en-US" sz="1400" dirty="0"/>
                    </a:p>
                  </a:txBody>
                  <a:tcPr/>
                </a:tc>
              </a:tr>
            </a:tbl>
          </a:graphicData>
        </a:graphic>
      </p:graphicFrame>
      <p:sp>
        <p:nvSpPr>
          <p:cNvPr id="16" name="TextBox 15"/>
          <p:cNvSpPr txBox="1"/>
          <p:nvPr/>
        </p:nvSpPr>
        <p:spPr>
          <a:xfrm>
            <a:off x="4343400" y="25908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58674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705600" y="60960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5" name="TextBox 24"/>
          <p:cNvSpPr txBox="1"/>
          <p:nvPr/>
        </p:nvSpPr>
        <p:spPr>
          <a:xfrm>
            <a:off x="4495800" y="3046813"/>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3</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495800" y="2895600"/>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410200" y="2590800"/>
            <a:ext cx="1295400" cy="9144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5029200"/>
            <a:ext cx="12954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6705600" y="4727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5</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28" name="Straight Arrow Connector 27"/>
          <p:cNvCxnSpPr/>
          <p:nvPr/>
        </p:nvCxnSpPr>
        <p:spPr>
          <a:xfrm>
            <a:off x="5410200" y="3809999"/>
            <a:ext cx="1295400" cy="5334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6" name="Table 25"/>
          <p:cNvGraphicFramePr>
            <a:graphicFrameLocks noGrp="1"/>
          </p:cNvGraphicFramePr>
          <p:nvPr/>
        </p:nvGraphicFramePr>
        <p:xfrm>
          <a:off x="6705600" y="3965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1, 9, 17</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33" name="Straight Arrow Connector 32"/>
          <p:cNvCxnSpPr/>
          <p:nvPr/>
        </p:nvCxnSpPr>
        <p:spPr>
          <a:xfrm>
            <a:off x="5410200" y="56388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5410200" y="4419600"/>
            <a:ext cx="1295400" cy="1219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rot="5400000" flipH="1" flipV="1">
            <a:off x="5105399" y="3124201"/>
            <a:ext cx="1905002" cy="1295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5410200" y="3657600"/>
            <a:ext cx="1219200" cy="4572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5400000" flipH="1" flipV="1">
            <a:off x="5295900" y="3848100"/>
            <a:ext cx="1600200" cy="1371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6" name="Table 35"/>
          <p:cNvGraphicFramePr>
            <a:graphicFrameLocks noGrp="1"/>
          </p:cNvGraphicFramePr>
          <p:nvPr/>
        </p:nvGraphicFramePr>
        <p:xfrm>
          <a:off x="6692899" y="2438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2</a:t>
                      </a:r>
                      <a:r>
                        <a:rPr lang="en-US" sz="1400" b="0" i="0" u="none" strike="noStrike" dirty="0">
                          <a:solidFill>
                            <a:schemeClr val="tx1"/>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8, 12, 28, </a:t>
                      </a:r>
                      <a:r>
                        <a:rPr lang="en-US" sz="1400" b="0" i="0" u="none" strike="noStrike" dirty="0" smtClean="0">
                          <a:solidFill>
                            <a:srgbClr val="FF0000"/>
                          </a:solidFill>
                          <a:latin typeface="Times New Roman" pitchFamily="18" charset="0"/>
                          <a:cs typeface="Times New Roman" pitchFamily="18" charset="0"/>
                        </a:rPr>
                        <a:t>24</a:t>
                      </a:r>
                      <a:endParaRPr lang="en-US" sz="14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 ii) Insert 24 (</a:t>
            </a:r>
            <a:r>
              <a:rPr lang="en-US" sz="2000" b="1" dirty="0" smtClean="0">
                <a:solidFill>
                  <a:srgbClr val="FF0000"/>
                </a:solidFill>
                <a:latin typeface="Times New Roman" pitchFamily="18" charset="0"/>
                <a:cs typeface="Times New Roman" pitchFamily="18" charset="0"/>
              </a:rPr>
              <a:t>000</a:t>
            </a:r>
            <a:r>
              <a:rPr lang="en-US" sz="2000" dirty="0" smtClean="0">
                <a:latin typeface="Times New Roman" pitchFamily="18" charset="0"/>
                <a:cs typeface="Times New Roman" pitchFamily="18" charset="0"/>
              </a:rPr>
              <a:t>). </a:t>
            </a:r>
          </a:p>
          <a:p>
            <a:pPr marL="342900" lvl="0" indent="-342900" algn="just">
              <a:spcBef>
                <a:spcPct val="20000"/>
              </a:spcBef>
            </a:pPr>
            <a:endPar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2" name="Table 11"/>
          <p:cNvGraphicFramePr>
            <a:graphicFrameLocks noGrp="1"/>
          </p:cNvGraphicFramePr>
          <p:nvPr/>
        </p:nvGraphicFramePr>
        <p:xfrm>
          <a:off x="6705600" y="3200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705600" y="5486400"/>
          <a:ext cx="1371600" cy="533400"/>
        </p:xfrm>
        <a:graphic>
          <a:graphicData uri="http://schemas.openxmlformats.org/drawingml/2006/table">
            <a:tbl>
              <a:tblPr/>
              <a:tblGrid>
                <a:gridCol w="424308"/>
                <a:gridCol w="473646"/>
                <a:gridCol w="473646"/>
              </a:tblGrid>
              <a:tr h="266700">
                <a:tc>
                  <a:txBody>
                    <a:bodyPr/>
                    <a:lstStyle/>
                    <a:p>
                      <a:pPr algn="ctr" fontAlgn="b"/>
                      <a:r>
                        <a:rPr lang="en-US" sz="1400" b="0" i="0" u="none" strike="noStrike" dirty="0" smtClean="0">
                          <a:solidFill>
                            <a:srgbClr val="000000"/>
                          </a:solidFill>
                          <a:latin typeface="Times New Roman" pitchFamily="18" charset="0"/>
                          <a:cs typeface="Times New Roman" pitchFamily="18" charset="0"/>
                        </a:rPr>
                        <a:t>2</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6700">
                <a:tc gridSpan="3">
                  <a:txBody>
                    <a:bodyPr/>
                    <a:lstStyle/>
                    <a:p>
                      <a:pPr algn="ctr" fontAlgn="b"/>
                      <a:r>
                        <a:rPr lang="en-US" sz="1400" b="0" i="0" u="none" strike="noStrike" dirty="0">
                          <a:solidFill>
                            <a:srgbClr val="000000"/>
                          </a:solidFill>
                          <a:latin typeface="Times New Roman" pitchFamily="18" charset="0"/>
                          <a:cs typeface="Times New Roman" pitchFamily="18" charset="0"/>
                        </a:rPr>
                        <a:t> </a:t>
                      </a:r>
                      <a:r>
                        <a:rPr lang="en-US" sz="1400" b="0" i="0" u="none" strike="noStrike" dirty="0" smtClean="0">
                          <a:solidFill>
                            <a:srgbClr val="000000"/>
                          </a:solidFill>
                          <a:latin typeface="Times New Roman" pitchFamily="18" charset="0"/>
                          <a:cs typeface="Times New Roman" pitchFamily="18" charset="0"/>
                        </a:rPr>
                        <a:t>3</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352800"/>
          <a:ext cx="914400" cy="2438400"/>
        </p:xfrm>
        <a:graphic>
          <a:graphicData uri="http://schemas.openxmlformats.org/drawingml/2006/table">
            <a:tbl>
              <a:tblPr firstRow="1" bandRow="1">
                <a:tableStyleId>{5C22544A-7EE6-4342-B048-85BDC9FD1C3A}</a:tableStyleId>
              </a:tblPr>
              <a:tblGrid>
                <a:gridCol w="914400"/>
              </a:tblGrid>
              <a:tr h="226060">
                <a:tc>
                  <a:txBody>
                    <a:bodyPr/>
                    <a:lstStyle/>
                    <a:p>
                      <a:pPr algn="ctr"/>
                      <a:r>
                        <a:rPr lang="en-US" sz="1400" dirty="0" smtClean="0"/>
                        <a:t>000</a:t>
                      </a:r>
                      <a:endParaRPr lang="en-US" sz="1400" dirty="0"/>
                    </a:p>
                  </a:txBody>
                  <a:tcPr/>
                </a:tc>
              </a:tr>
              <a:tr h="226060">
                <a:tc>
                  <a:txBody>
                    <a:bodyPr/>
                    <a:lstStyle/>
                    <a:p>
                      <a:pPr algn="ctr"/>
                      <a:r>
                        <a:rPr lang="en-US" sz="1400" dirty="0" smtClean="0"/>
                        <a:t>001</a:t>
                      </a:r>
                      <a:endParaRPr lang="en-US" sz="1400" dirty="0"/>
                    </a:p>
                  </a:txBody>
                  <a:tcPr/>
                </a:tc>
              </a:tr>
              <a:tr h="226060">
                <a:tc>
                  <a:txBody>
                    <a:bodyPr/>
                    <a:lstStyle/>
                    <a:p>
                      <a:pPr algn="ctr"/>
                      <a:r>
                        <a:rPr lang="en-US" sz="1400" dirty="0" smtClean="0"/>
                        <a:t>010</a:t>
                      </a:r>
                      <a:endParaRPr lang="en-US" sz="1400" dirty="0"/>
                    </a:p>
                  </a:txBody>
                  <a:tcPr/>
                </a:tc>
              </a:tr>
              <a:tr h="226060">
                <a:tc>
                  <a:txBody>
                    <a:bodyPr/>
                    <a:lstStyle/>
                    <a:p>
                      <a:pPr algn="ctr"/>
                      <a:r>
                        <a:rPr lang="en-US" sz="1400" dirty="0" smtClean="0"/>
                        <a:t>011</a:t>
                      </a:r>
                      <a:endParaRPr lang="en-US" sz="1400" dirty="0"/>
                    </a:p>
                  </a:txBody>
                  <a:tcPr/>
                </a:tc>
              </a:tr>
              <a:tr h="226060">
                <a:tc>
                  <a:txBody>
                    <a:bodyPr/>
                    <a:lstStyle/>
                    <a:p>
                      <a:pPr algn="ctr"/>
                      <a:r>
                        <a:rPr lang="en-US" sz="1400" dirty="0" smtClean="0"/>
                        <a:t>100</a:t>
                      </a:r>
                      <a:endParaRPr lang="en-US" sz="1400" dirty="0"/>
                    </a:p>
                  </a:txBody>
                  <a:tcPr/>
                </a:tc>
              </a:tr>
              <a:tr h="226060">
                <a:tc>
                  <a:txBody>
                    <a:bodyPr/>
                    <a:lstStyle/>
                    <a:p>
                      <a:pPr algn="ctr"/>
                      <a:r>
                        <a:rPr lang="en-US" sz="1400" dirty="0" smtClean="0"/>
                        <a:t>101</a:t>
                      </a:r>
                      <a:endParaRPr lang="en-US" sz="1400" dirty="0"/>
                    </a:p>
                  </a:txBody>
                  <a:tcPr/>
                </a:tc>
              </a:tr>
              <a:tr h="226060">
                <a:tc>
                  <a:txBody>
                    <a:bodyPr/>
                    <a:lstStyle/>
                    <a:p>
                      <a:pPr algn="ctr"/>
                      <a:r>
                        <a:rPr lang="en-US" sz="1400" dirty="0" smtClean="0"/>
                        <a:t>110</a:t>
                      </a:r>
                      <a:endParaRPr lang="en-US" sz="1400" dirty="0"/>
                    </a:p>
                  </a:txBody>
                  <a:tcPr/>
                </a:tc>
              </a:tr>
              <a:tr h="226060">
                <a:tc>
                  <a:txBody>
                    <a:bodyPr/>
                    <a:lstStyle/>
                    <a:p>
                      <a:pPr algn="ctr"/>
                      <a:r>
                        <a:rPr lang="en-US" sz="1400" dirty="0" smtClean="0"/>
                        <a:t>111</a:t>
                      </a:r>
                      <a:endParaRPr lang="en-US" sz="1400" dirty="0"/>
                    </a:p>
                  </a:txBody>
                  <a:tcPr/>
                </a:tc>
              </a:tr>
            </a:tbl>
          </a:graphicData>
        </a:graphic>
      </p:graphicFrame>
      <p:sp>
        <p:nvSpPr>
          <p:cNvPr id="16" name="TextBox 15"/>
          <p:cNvSpPr txBox="1"/>
          <p:nvPr/>
        </p:nvSpPr>
        <p:spPr>
          <a:xfrm>
            <a:off x="4343400" y="25908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58674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705600" y="60960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5" name="TextBox 24"/>
          <p:cNvSpPr txBox="1"/>
          <p:nvPr/>
        </p:nvSpPr>
        <p:spPr>
          <a:xfrm>
            <a:off x="4495800" y="3046813"/>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3</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495800" y="2895600"/>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5400000" flipH="1" flipV="1">
            <a:off x="5333999" y="2133601"/>
            <a:ext cx="1447802" cy="1295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5029200"/>
            <a:ext cx="12954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6705600" y="4727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5</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28" name="Straight Arrow Connector 27"/>
          <p:cNvCxnSpPr/>
          <p:nvPr/>
        </p:nvCxnSpPr>
        <p:spPr>
          <a:xfrm>
            <a:off x="5410200" y="3809999"/>
            <a:ext cx="1295400" cy="5334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6" name="Table 25"/>
          <p:cNvGraphicFramePr>
            <a:graphicFrameLocks noGrp="1"/>
          </p:cNvGraphicFramePr>
          <p:nvPr/>
        </p:nvGraphicFramePr>
        <p:xfrm>
          <a:off x="6705600" y="3965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1, 9, 17</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33" name="Straight Arrow Connector 32"/>
          <p:cNvCxnSpPr/>
          <p:nvPr/>
        </p:nvCxnSpPr>
        <p:spPr>
          <a:xfrm>
            <a:off x="5410200" y="56388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5410200" y="4419600"/>
            <a:ext cx="1295400" cy="1219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rot="5400000" flipH="1" flipV="1">
            <a:off x="5105399" y="3124201"/>
            <a:ext cx="1905002" cy="1295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5410200" y="3657600"/>
            <a:ext cx="1219200" cy="4572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5400000" flipH="1" flipV="1">
            <a:off x="5295900" y="3848100"/>
            <a:ext cx="1600200" cy="1371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6" name="Table 35"/>
          <p:cNvGraphicFramePr>
            <a:graphicFrameLocks noGrp="1"/>
          </p:cNvGraphicFramePr>
          <p:nvPr/>
        </p:nvGraphicFramePr>
        <p:xfrm>
          <a:off x="6692899" y="2438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3</a:t>
                      </a:r>
                      <a:r>
                        <a:rPr lang="en-US" sz="1400" b="0" i="0" u="none" strike="noStrike" dirty="0">
                          <a:solidFill>
                            <a:schemeClr val="tx1"/>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rgbClr val="FF0000"/>
                          </a:solidFill>
                          <a:latin typeface="Times New Roman" pitchFamily="18" charset="0"/>
                          <a:cs typeface="Times New Roman" pitchFamily="18" charset="0"/>
                        </a:rPr>
                        <a:t>12, 28</a:t>
                      </a:r>
                      <a:endParaRPr lang="en-US" sz="14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sp>
        <p:nvSpPr>
          <p:cNvPr id="30" name="Content Placeholder 16"/>
          <p:cNvSpPr txBox="1">
            <a:spLocks/>
          </p:cNvSpPr>
          <p:nvPr/>
        </p:nvSpPr>
        <p:spPr>
          <a:xfrm>
            <a:off x="381000" y="2057400"/>
            <a:ext cx="3962400" cy="1524000"/>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tabLst/>
              <a:defRPr/>
            </a:pPr>
            <a:r>
              <a:rPr lang="en-US" sz="1600" dirty="0" smtClean="0">
                <a:latin typeface="Times New Roman" pitchFamily="18" charset="0"/>
                <a:cs typeface="Times New Roman" pitchFamily="18" charset="0"/>
              </a:rPr>
              <a:t>	Here Bucket depth is less than global depth. So, only the bucket split is executed. Elements (8, 12, 28, 24) are re-hashed according to the global depth, which is still 3. </a:t>
            </a:r>
            <a:endPar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32" name="Table 31"/>
          <p:cNvGraphicFramePr>
            <a:graphicFrameLocks noGrp="1"/>
          </p:cNvGraphicFramePr>
          <p:nvPr/>
        </p:nvGraphicFramePr>
        <p:xfrm>
          <a:off x="1066800" y="3428997"/>
          <a:ext cx="2819400" cy="3048003"/>
        </p:xfrm>
        <a:graphic>
          <a:graphicData uri="http://schemas.openxmlformats.org/drawingml/2006/table">
            <a:tbl>
              <a:tblPr/>
              <a:tblGrid>
                <a:gridCol w="1228969"/>
                <a:gridCol w="1590431"/>
              </a:tblGrid>
              <a:tr h="338667">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a:ea typeface="Times New Roman"/>
                          <a:cs typeface="Times New Roman"/>
                        </a:rPr>
                        <a:t>Binary form</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3</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011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5</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8</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000</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9</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12</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100</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17</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28</a:t>
                      </a:r>
                      <a:endParaRPr lang="en-US" sz="1600" dirty="0">
                        <a:solidFill>
                          <a:srgbClr val="FF0000"/>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rgbClr val="FF0000"/>
                          </a:solidFill>
                          <a:latin typeface="Times New Roman"/>
                          <a:ea typeface="Times New Roman"/>
                          <a:cs typeface="Times New Roman"/>
                        </a:rPr>
                        <a:t>100</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5" name="Table 34"/>
          <p:cNvGraphicFramePr>
            <a:graphicFrameLocks noGrp="1"/>
          </p:cNvGraphicFramePr>
          <p:nvPr/>
        </p:nvGraphicFramePr>
        <p:xfrm>
          <a:off x="6705600" y="1676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3</a:t>
                      </a:r>
                      <a:r>
                        <a:rPr lang="en-US" sz="1400" b="0" i="0" u="none" strike="noStrike" dirty="0">
                          <a:solidFill>
                            <a:schemeClr val="tx1"/>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rgbClr val="FF0000"/>
                          </a:solidFill>
                          <a:latin typeface="Times New Roman" pitchFamily="18" charset="0"/>
                          <a:cs typeface="Times New Roman" pitchFamily="18" charset="0"/>
                        </a:rPr>
                        <a:t>8, 24</a:t>
                      </a:r>
                      <a:endParaRPr lang="en-US" sz="1400" b="0" i="0" u="none" strike="noStrike" dirty="0">
                        <a:solidFill>
                          <a:srgbClr val="FF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 iii) Delete 5 </a:t>
            </a:r>
          </a:p>
          <a:p>
            <a:pPr marL="342900" lvl="0" indent="-342900" algn="just">
              <a:spcBef>
                <a:spcPct val="20000"/>
              </a:spcBef>
            </a:pPr>
            <a:endPar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2" name="Table 11"/>
          <p:cNvGraphicFramePr>
            <a:graphicFrameLocks noGrp="1"/>
          </p:cNvGraphicFramePr>
          <p:nvPr/>
        </p:nvGraphicFramePr>
        <p:xfrm>
          <a:off x="6705600" y="3200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705600" y="5486400"/>
          <a:ext cx="1371600" cy="533400"/>
        </p:xfrm>
        <a:graphic>
          <a:graphicData uri="http://schemas.openxmlformats.org/drawingml/2006/table">
            <a:tbl>
              <a:tblPr/>
              <a:tblGrid>
                <a:gridCol w="424308"/>
                <a:gridCol w="473646"/>
                <a:gridCol w="473646"/>
              </a:tblGrid>
              <a:tr h="266700">
                <a:tc>
                  <a:txBody>
                    <a:bodyPr/>
                    <a:lstStyle/>
                    <a:p>
                      <a:pPr algn="ctr" fontAlgn="b"/>
                      <a:r>
                        <a:rPr lang="en-US" sz="1400" b="0" i="0" u="none" strike="noStrike" dirty="0" smtClean="0">
                          <a:solidFill>
                            <a:srgbClr val="000000"/>
                          </a:solidFill>
                          <a:latin typeface="Times New Roman" pitchFamily="18" charset="0"/>
                          <a:cs typeface="Times New Roman" pitchFamily="18" charset="0"/>
                        </a:rPr>
                        <a:t>2</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6700">
                <a:tc gridSpan="3">
                  <a:txBody>
                    <a:bodyPr/>
                    <a:lstStyle/>
                    <a:p>
                      <a:pPr algn="ctr" fontAlgn="b"/>
                      <a:r>
                        <a:rPr lang="en-US" sz="1400" b="0" i="0" u="none" strike="noStrike" dirty="0">
                          <a:solidFill>
                            <a:srgbClr val="000000"/>
                          </a:solidFill>
                          <a:latin typeface="Times New Roman" pitchFamily="18" charset="0"/>
                          <a:cs typeface="Times New Roman" pitchFamily="18" charset="0"/>
                        </a:rPr>
                        <a:t> </a:t>
                      </a:r>
                      <a:r>
                        <a:rPr lang="en-US" sz="1400" b="0" i="0" u="none" strike="noStrike" dirty="0" smtClean="0">
                          <a:solidFill>
                            <a:srgbClr val="000000"/>
                          </a:solidFill>
                          <a:latin typeface="Times New Roman" pitchFamily="18" charset="0"/>
                          <a:cs typeface="Times New Roman" pitchFamily="18" charset="0"/>
                        </a:rPr>
                        <a:t>3</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352800"/>
          <a:ext cx="914400" cy="2438400"/>
        </p:xfrm>
        <a:graphic>
          <a:graphicData uri="http://schemas.openxmlformats.org/drawingml/2006/table">
            <a:tbl>
              <a:tblPr firstRow="1" bandRow="1">
                <a:tableStyleId>{5C22544A-7EE6-4342-B048-85BDC9FD1C3A}</a:tableStyleId>
              </a:tblPr>
              <a:tblGrid>
                <a:gridCol w="914400"/>
              </a:tblGrid>
              <a:tr h="226060">
                <a:tc>
                  <a:txBody>
                    <a:bodyPr/>
                    <a:lstStyle/>
                    <a:p>
                      <a:pPr algn="ctr"/>
                      <a:r>
                        <a:rPr lang="en-US" sz="1400" dirty="0" smtClean="0"/>
                        <a:t>000</a:t>
                      </a:r>
                      <a:endParaRPr lang="en-US" sz="1400" dirty="0"/>
                    </a:p>
                  </a:txBody>
                  <a:tcPr/>
                </a:tc>
              </a:tr>
              <a:tr h="226060">
                <a:tc>
                  <a:txBody>
                    <a:bodyPr/>
                    <a:lstStyle/>
                    <a:p>
                      <a:pPr algn="ctr"/>
                      <a:r>
                        <a:rPr lang="en-US" sz="1400" dirty="0" smtClean="0"/>
                        <a:t>001</a:t>
                      </a:r>
                      <a:endParaRPr lang="en-US" sz="1400" dirty="0"/>
                    </a:p>
                  </a:txBody>
                  <a:tcPr/>
                </a:tc>
              </a:tr>
              <a:tr h="226060">
                <a:tc>
                  <a:txBody>
                    <a:bodyPr/>
                    <a:lstStyle/>
                    <a:p>
                      <a:pPr algn="ctr"/>
                      <a:r>
                        <a:rPr lang="en-US" sz="1400" dirty="0" smtClean="0"/>
                        <a:t>010</a:t>
                      </a:r>
                      <a:endParaRPr lang="en-US" sz="1400" dirty="0"/>
                    </a:p>
                  </a:txBody>
                  <a:tcPr/>
                </a:tc>
              </a:tr>
              <a:tr h="226060">
                <a:tc>
                  <a:txBody>
                    <a:bodyPr/>
                    <a:lstStyle/>
                    <a:p>
                      <a:pPr algn="ctr"/>
                      <a:r>
                        <a:rPr lang="en-US" sz="1400" dirty="0" smtClean="0"/>
                        <a:t>011</a:t>
                      </a:r>
                      <a:endParaRPr lang="en-US" sz="1400" dirty="0"/>
                    </a:p>
                  </a:txBody>
                  <a:tcPr/>
                </a:tc>
              </a:tr>
              <a:tr h="226060">
                <a:tc>
                  <a:txBody>
                    <a:bodyPr/>
                    <a:lstStyle/>
                    <a:p>
                      <a:pPr algn="ctr"/>
                      <a:r>
                        <a:rPr lang="en-US" sz="1400" dirty="0" smtClean="0"/>
                        <a:t>100</a:t>
                      </a:r>
                      <a:endParaRPr lang="en-US" sz="1400" dirty="0"/>
                    </a:p>
                  </a:txBody>
                  <a:tcPr/>
                </a:tc>
              </a:tr>
              <a:tr h="226060">
                <a:tc>
                  <a:txBody>
                    <a:bodyPr/>
                    <a:lstStyle/>
                    <a:p>
                      <a:pPr algn="ctr"/>
                      <a:r>
                        <a:rPr lang="en-US" sz="1400" dirty="0" smtClean="0"/>
                        <a:t>101</a:t>
                      </a:r>
                      <a:endParaRPr lang="en-US" sz="1400" dirty="0"/>
                    </a:p>
                  </a:txBody>
                  <a:tcPr/>
                </a:tc>
              </a:tr>
              <a:tr h="226060">
                <a:tc>
                  <a:txBody>
                    <a:bodyPr/>
                    <a:lstStyle/>
                    <a:p>
                      <a:pPr algn="ctr"/>
                      <a:r>
                        <a:rPr lang="en-US" sz="1400" dirty="0" smtClean="0"/>
                        <a:t>110</a:t>
                      </a:r>
                      <a:endParaRPr lang="en-US" sz="1400" dirty="0"/>
                    </a:p>
                  </a:txBody>
                  <a:tcPr/>
                </a:tc>
              </a:tr>
              <a:tr h="226060">
                <a:tc>
                  <a:txBody>
                    <a:bodyPr/>
                    <a:lstStyle/>
                    <a:p>
                      <a:pPr algn="ctr"/>
                      <a:r>
                        <a:rPr lang="en-US" sz="1400" dirty="0" smtClean="0"/>
                        <a:t>111</a:t>
                      </a:r>
                      <a:endParaRPr lang="en-US" sz="1400" dirty="0"/>
                    </a:p>
                  </a:txBody>
                  <a:tcPr/>
                </a:tc>
              </a:tr>
            </a:tbl>
          </a:graphicData>
        </a:graphic>
      </p:graphicFrame>
      <p:sp>
        <p:nvSpPr>
          <p:cNvPr id="16" name="TextBox 15"/>
          <p:cNvSpPr txBox="1"/>
          <p:nvPr/>
        </p:nvSpPr>
        <p:spPr>
          <a:xfrm>
            <a:off x="4343400" y="25908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58674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705600" y="60960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5" name="TextBox 24"/>
          <p:cNvSpPr txBox="1"/>
          <p:nvPr/>
        </p:nvSpPr>
        <p:spPr>
          <a:xfrm>
            <a:off x="4495800" y="3046813"/>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3</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495800" y="2895600"/>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5400000" flipH="1" flipV="1">
            <a:off x="5333999" y="2133601"/>
            <a:ext cx="1447802" cy="1295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410200" y="5029200"/>
            <a:ext cx="12954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3" name="Table 22"/>
          <p:cNvGraphicFramePr>
            <a:graphicFrameLocks noGrp="1"/>
          </p:cNvGraphicFramePr>
          <p:nvPr/>
        </p:nvGraphicFramePr>
        <p:xfrm>
          <a:off x="6705600" y="4727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5</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28" name="Straight Arrow Connector 27"/>
          <p:cNvCxnSpPr/>
          <p:nvPr/>
        </p:nvCxnSpPr>
        <p:spPr>
          <a:xfrm>
            <a:off x="5410200" y="3809999"/>
            <a:ext cx="1295400" cy="5334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6" name="Table 25"/>
          <p:cNvGraphicFramePr>
            <a:graphicFrameLocks noGrp="1"/>
          </p:cNvGraphicFramePr>
          <p:nvPr/>
        </p:nvGraphicFramePr>
        <p:xfrm>
          <a:off x="6705600" y="3965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3</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1, 9, 17</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33" name="Straight Arrow Connector 32"/>
          <p:cNvCxnSpPr/>
          <p:nvPr/>
        </p:nvCxnSpPr>
        <p:spPr>
          <a:xfrm>
            <a:off x="5410200" y="56388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5410200" y="4419600"/>
            <a:ext cx="1295400" cy="1219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rot="5400000" flipH="1" flipV="1">
            <a:off x="5105399" y="3124201"/>
            <a:ext cx="1905002" cy="1295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5410200" y="3657600"/>
            <a:ext cx="1219200" cy="4572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5400000" flipH="1" flipV="1">
            <a:off x="5295900" y="3848100"/>
            <a:ext cx="1600200" cy="1371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6" name="Table 35"/>
          <p:cNvGraphicFramePr>
            <a:graphicFrameLocks noGrp="1"/>
          </p:cNvGraphicFramePr>
          <p:nvPr/>
        </p:nvGraphicFramePr>
        <p:xfrm>
          <a:off x="6692899" y="2438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3</a:t>
                      </a:r>
                      <a:r>
                        <a:rPr lang="en-US" sz="1400" b="0" i="0" u="none" strike="noStrike" dirty="0">
                          <a:solidFill>
                            <a:schemeClr val="tx1"/>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12, 28</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sp>
        <p:nvSpPr>
          <p:cNvPr id="30" name="Content Placeholder 16"/>
          <p:cNvSpPr txBox="1">
            <a:spLocks/>
          </p:cNvSpPr>
          <p:nvPr/>
        </p:nvSpPr>
        <p:spPr>
          <a:xfrm>
            <a:off x="381000" y="2057400"/>
            <a:ext cx="3962400" cy="1524000"/>
          </a:xfrm>
          <a:prstGeom prst="rect">
            <a:avLst/>
          </a:prstGeom>
        </p:spPr>
        <p:txBody>
          <a:bodyPr/>
          <a:lstStyle/>
          <a:p>
            <a:pPr marL="342900" lvl="0" indent="-342900" algn="just">
              <a:spcBef>
                <a:spcPct val="20000"/>
              </a:spcBef>
              <a:defRPr/>
            </a:pPr>
            <a:r>
              <a:rPr lang="en-US" sz="1600" dirty="0" smtClean="0">
                <a:latin typeface="Times New Roman" pitchFamily="18" charset="0"/>
                <a:cs typeface="Times New Roman" pitchFamily="18" charset="0"/>
              </a:rPr>
              <a:t>	 On deleting 5, we get one bucket pointed by 101 as empty. This will also result in reducing the local depth of the bucket pointed by 001. </a:t>
            </a:r>
            <a:endPar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32" name="Table 31"/>
          <p:cNvGraphicFramePr>
            <a:graphicFrameLocks noGrp="1"/>
          </p:cNvGraphicFramePr>
          <p:nvPr/>
        </p:nvGraphicFramePr>
        <p:xfrm>
          <a:off x="1066800" y="3428997"/>
          <a:ext cx="2819400" cy="3048003"/>
        </p:xfrm>
        <a:graphic>
          <a:graphicData uri="http://schemas.openxmlformats.org/drawingml/2006/table">
            <a:tbl>
              <a:tblPr/>
              <a:tblGrid>
                <a:gridCol w="1228969"/>
                <a:gridCol w="1590431"/>
              </a:tblGrid>
              <a:tr h="338667">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a:ea typeface="Times New Roman"/>
                          <a:cs typeface="Times New Roman"/>
                        </a:rPr>
                        <a:t>Binary form</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3</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011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5</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000</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9</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12</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17</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28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5" name="Table 34"/>
          <p:cNvGraphicFramePr>
            <a:graphicFrameLocks noGrp="1"/>
          </p:cNvGraphicFramePr>
          <p:nvPr/>
        </p:nvGraphicFramePr>
        <p:xfrm>
          <a:off x="6705600" y="1676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3</a:t>
                      </a:r>
                      <a:r>
                        <a:rPr lang="en-US" sz="1400" b="0" i="0" u="none" strike="noStrike" dirty="0">
                          <a:solidFill>
                            <a:schemeClr val="tx1"/>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8, 24</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 iii) Delete 5 </a:t>
            </a:r>
          </a:p>
          <a:p>
            <a:pPr marL="342900" lvl="0" indent="-342900" algn="just">
              <a:spcBef>
                <a:spcPct val="20000"/>
              </a:spcBef>
            </a:pPr>
            <a:endPar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2" name="Table 11"/>
          <p:cNvGraphicFramePr>
            <a:graphicFrameLocks noGrp="1"/>
          </p:cNvGraphicFramePr>
          <p:nvPr/>
        </p:nvGraphicFramePr>
        <p:xfrm>
          <a:off x="6705600" y="3200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705600" y="5486400"/>
          <a:ext cx="1371600" cy="533400"/>
        </p:xfrm>
        <a:graphic>
          <a:graphicData uri="http://schemas.openxmlformats.org/drawingml/2006/table">
            <a:tbl>
              <a:tblPr/>
              <a:tblGrid>
                <a:gridCol w="424308"/>
                <a:gridCol w="473646"/>
                <a:gridCol w="473646"/>
              </a:tblGrid>
              <a:tr h="266700">
                <a:tc>
                  <a:txBody>
                    <a:bodyPr/>
                    <a:lstStyle/>
                    <a:p>
                      <a:pPr algn="ctr" fontAlgn="b"/>
                      <a:r>
                        <a:rPr lang="en-US" sz="1400" b="0" i="0" u="none" strike="noStrike" dirty="0" smtClean="0">
                          <a:solidFill>
                            <a:srgbClr val="000000"/>
                          </a:solidFill>
                          <a:latin typeface="Times New Roman" pitchFamily="18" charset="0"/>
                          <a:cs typeface="Times New Roman" pitchFamily="18" charset="0"/>
                        </a:rPr>
                        <a:t>2</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6700">
                <a:tc gridSpan="3">
                  <a:txBody>
                    <a:bodyPr/>
                    <a:lstStyle/>
                    <a:p>
                      <a:pPr algn="ctr" fontAlgn="b"/>
                      <a:r>
                        <a:rPr lang="en-US" sz="1400" b="0" i="0" u="none" strike="noStrike" dirty="0">
                          <a:solidFill>
                            <a:srgbClr val="000000"/>
                          </a:solidFill>
                          <a:latin typeface="Times New Roman" pitchFamily="18" charset="0"/>
                          <a:cs typeface="Times New Roman" pitchFamily="18" charset="0"/>
                        </a:rPr>
                        <a:t> </a:t>
                      </a:r>
                      <a:r>
                        <a:rPr lang="en-US" sz="1400" b="0" i="0" u="none" strike="noStrike" dirty="0" smtClean="0">
                          <a:solidFill>
                            <a:srgbClr val="000000"/>
                          </a:solidFill>
                          <a:latin typeface="Times New Roman" pitchFamily="18" charset="0"/>
                          <a:cs typeface="Times New Roman" pitchFamily="18" charset="0"/>
                        </a:rPr>
                        <a:t>3</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352800"/>
          <a:ext cx="914400" cy="2438400"/>
        </p:xfrm>
        <a:graphic>
          <a:graphicData uri="http://schemas.openxmlformats.org/drawingml/2006/table">
            <a:tbl>
              <a:tblPr firstRow="1" bandRow="1">
                <a:tableStyleId>{5C22544A-7EE6-4342-B048-85BDC9FD1C3A}</a:tableStyleId>
              </a:tblPr>
              <a:tblGrid>
                <a:gridCol w="914400"/>
              </a:tblGrid>
              <a:tr h="226060">
                <a:tc>
                  <a:txBody>
                    <a:bodyPr/>
                    <a:lstStyle/>
                    <a:p>
                      <a:pPr algn="ctr"/>
                      <a:r>
                        <a:rPr lang="en-US" sz="1400" dirty="0" smtClean="0"/>
                        <a:t>000</a:t>
                      </a:r>
                      <a:endParaRPr lang="en-US" sz="1400" dirty="0"/>
                    </a:p>
                  </a:txBody>
                  <a:tcPr/>
                </a:tc>
              </a:tr>
              <a:tr h="226060">
                <a:tc>
                  <a:txBody>
                    <a:bodyPr/>
                    <a:lstStyle/>
                    <a:p>
                      <a:pPr algn="ctr"/>
                      <a:r>
                        <a:rPr lang="en-US" sz="1400" dirty="0" smtClean="0"/>
                        <a:t>001</a:t>
                      </a:r>
                      <a:endParaRPr lang="en-US" sz="1400" dirty="0"/>
                    </a:p>
                  </a:txBody>
                  <a:tcPr/>
                </a:tc>
              </a:tr>
              <a:tr h="226060">
                <a:tc>
                  <a:txBody>
                    <a:bodyPr/>
                    <a:lstStyle/>
                    <a:p>
                      <a:pPr algn="ctr"/>
                      <a:r>
                        <a:rPr lang="en-US" sz="1400" dirty="0" smtClean="0"/>
                        <a:t>010</a:t>
                      </a:r>
                      <a:endParaRPr lang="en-US" sz="1400" dirty="0"/>
                    </a:p>
                  </a:txBody>
                  <a:tcPr/>
                </a:tc>
              </a:tr>
              <a:tr h="226060">
                <a:tc>
                  <a:txBody>
                    <a:bodyPr/>
                    <a:lstStyle/>
                    <a:p>
                      <a:pPr algn="ctr"/>
                      <a:r>
                        <a:rPr lang="en-US" sz="1400" dirty="0" smtClean="0"/>
                        <a:t>011</a:t>
                      </a:r>
                      <a:endParaRPr lang="en-US" sz="1400" dirty="0"/>
                    </a:p>
                  </a:txBody>
                  <a:tcPr/>
                </a:tc>
              </a:tr>
              <a:tr h="226060">
                <a:tc>
                  <a:txBody>
                    <a:bodyPr/>
                    <a:lstStyle/>
                    <a:p>
                      <a:pPr algn="ctr"/>
                      <a:r>
                        <a:rPr lang="en-US" sz="1400" dirty="0" smtClean="0"/>
                        <a:t>100</a:t>
                      </a:r>
                      <a:endParaRPr lang="en-US" sz="1400" dirty="0"/>
                    </a:p>
                  </a:txBody>
                  <a:tcPr/>
                </a:tc>
              </a:tr>
              <a:tr h="226060">
                <a:tc>
                  <a:txBody>
                    <a:bodyPr/>
                    <a:lstStyle/>
                    <a:p>
                      <a:pPr algn="ctr"/>
                      <a:r>
                        <a:rPr lang="en-US" sz="1400" dirty="0" smtClean="0"/>
                        <a:t>101</a:t>
                      </a:r>
                      <a:endParaRPr lang="en-US" sz="1400" dirty="0"/>
                    </a:p>
                  </a:txBody>
                  <a:tcPr/>
                </a:tc>
              </a:tr>
              <a:tr h="226060">
                <a:tc>
                  <a:txBody>
                    <a:bodyPr/>
                    <a:lstStyle/>
                    <a:p>
                      <a:pPr algn="ctr"/>
                      <a:r>
                        <a:rPr lang="en-US" sz="1400" dirty="0" smtClean="0"/>
                        <a:t>110</a:t>
                      </a:r>
                      <a:endParaRPr lang="en-US" sz="1400" dirty="0"/>
                    </a:p>
                  </a:txBody>
                  <a:tcPr/>
                </a:tc>
              </a:tr>
              <a:tr h="226060">
                <a:tc>
                  <a:txBody>
                    <a:bodyPr/>
                    <a:lstStyle/>
                    <a:p>
                      <a:pPr algn="ctr"/>
                      <a:r>
                        <a:rPr lang="en-US" sz="1400" dirty="0" smtClean="0"/>
                        <a:t>111</a:t>
                      </a:r>
                      <a:endParaRPr lang="en-US" sz="1400" dirty="0"/>
                    </a:p>
                  </a:txBody>
                  <a:tcPr/>
                </a:tc>
              </a:tr>
            </a:tbl>
          </a:graphicData>
        </a:graphic>
      </p:graphicFrame>
      <p:sp>
        <p:nvSpPr>
          <p:cNvPr id="16" name="TextBox 15"/>
          <p:cNvSpPr txBox="1"/>
          <p:nvPr/>
        </p:nvSpPr>
        <p:spPr>
          <a:xfrm>
            <a:off x="4343400" y="25908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58674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705600" y="60960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5" name="TextBox 24"/>
          <p:cNvSpPr txBox="1"/>
          <p:nvPr/>
        </p:nvSpPr>
        <p:spPr>
          <a:xfrm>
            <a:off x="4495800" y="3046813"/>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3</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495800" y="2895600"/>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5400000" flipH="1" flipV="1">
            <a:off x="5333999" y="2133601"/>
            <a:ext cx="1447802" cy="1295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5410200" y="4419600"/>
            <a:ext cx="12192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5410200" y="3809999"/>
            <a:ext cx="1295400" cy="5334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6" name="Table 25"/>
          <p:cNvGraphicFramePr>
            <a:graphicFrameLocks noGrp="1"/>
          </p:cNvGraphicFramePr>
          <p:nvPr/>
        </p:nvGraphicFramePr>
        <p:xfrm>
          <a:off x="6705600" y="3965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2</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1, 9, 17</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33" name="Straight Arrow Connector 32"/>
          <p:cNvCxnSpPr/>
          <p:nvPr/>
        </p:nvCxnSpPr>
        <p:spPr>
          <a:xfrm>
            <a:off x="5410200" y="56388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5410200" y="4419600"/>
            <a:ext cx="1295400" cy="1219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rot="5400000" flipH="1" flipV="1">
            <a:off x="5105399" y="3124201"/>
            <a:ext cx="1905002" cy="1295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5410200" y="3657600"/>
            <a:ext cx="1219200" cy="4572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5400000" flipH="1" flipV="1">
            <a:off x="5295900" y="3848100"/>
            <a:ext cx="1600200" cy="1371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6" name="Table 35"/>
          <p:cNvGraphicFramePr>
            <a:graphicFrameLocks noGrp="1"/>
          </p:cNvGraphicFramePr>
          <p:nvPr/>
        </p:nvGraphicFramePr>
        <p:xfrm>
          <a:off x="6692899" y="2438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3</a:t>
                      </a:r>
                      <a:r>
                        <a:rPr lang="en-US" sz="1400" b="0" i="0" u="none" strike="noStrike" dirty="0">
                          <a:solidFill>
                            <a:schemeClr val="tx1"/>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12, 28</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sp>
        <p:nvSpPr>
          <p:cNvPr id="30" name="Content Placeholder 16"/>
          <p:cNvSpPr txBox="1">
            <a:spLocks/>
          </p:cNvSpPr>
          <p:nvPr/>
        </p:nvSpPr>
        <p:spPr>
          <a:xfrm>
            <a:off x="381000" y="2057400"/>
            <a:ext cx="3962400" cy="1524000"/>
          </a:xfrm>
          <a:prstGeom prst="rect">
            <a:avLst/>
          </a:prstGeom>
        </p:spPr>
        <p:txBody>
          <a:bodyPr/>
          <a:lstStyle/>
          <a:p>
            <a:pPr marL="342900" lvl="0" indent="-342900" algn="just">
              <a:spcBef>
                <a:spcPct val="20000"/>
              </a:spcBef>
              <a:defRPr/>
            </a:pPr>
            <a:r>
              <a:rPr lang="en-US" sz="1600" dirty="0" smtClean="0">
                <a:latin typeface="Times New Roman" pitchFamily="18" charset="0"/>
                <a:cs typeface="Times New Roman" pitchFamily="18" charset="0"/>
              </a:rPr>
              <a:t>	 Hence, we get- </a:t>
            </a:r>
            <a:endPar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32" name="Table 31"/>
          <p:cNvGraphicFramePr>
            <a:graphicFrameLocks noGrp="1"/>
          </p:cNvGraphicFramePr>
          <p:nvPr/>
        </p:nvGraphicFramePr>
        <p:xfrm>
          <a:off x="1066800" y="3428997"/>
          <a:ext cx="2819400" cy="3048003"/>
        </p:xfrm>
        <a:graphic>
          <a:graphicData uri="http://schemas.openxmlformats.org/drawingml/2006/table">
            <a:tbl>
              <a:tblPr/>
              <a:tblGrid>
                <a:gridCol w="1228969"/>
                <a:gridCol w="1590431"/>
              </a:tblGrid>
              <a:tr h="338667">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a:ea typeface="Times New Roman"/>
                          <a:cs typeface="Times New Roman"/>
                        </a:rPr>
                        <a:t>Binary form</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a:t>
                      </a:r>
                      <a:r>
                        <a:rPr lang="en-US" sz="1600" dirty="0">
                          <a:solidFill>
                            <a:srgbClr val="FF0000"/>
                          </a:solidFill>
                          <a:latin typeface="Times New Roman"/>
                          <a:ea typeface="Times New Roman"/>
                          <a:cs typeface="Times New Roman"/>
                        </a:rPr>
                        <a:t>01</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3</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011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5</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000</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9</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a:t>
                      </a:r>
                      <a:r>
                        <a:rPr lang="en-US" sz="1600" dirty="0">
                          <a:solidFill>
                            <a:srgbClr val="FF0000"/>
                          </a:solidFill>
                          <a:latin typeface="Times New Roman"/>
                          <a:ea typeface="Times New Roman"/>
                          <a:cs typeface="Times New Roman"/>
                        </a:rPr>
                        <a:t>01</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12</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17</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a:t>
                      </a:r>
                      <a:r>
                        <a:rPr lang="en-US" sz="1600" dirty="0">
                          <a:solidFill>
                            <a:srgbClr val="FF0000"/>
                          </a:solidFill>
                          <a:latin typeface="Times New Roman"/>
                          <a:ea typeface="Times New Roman"/>
                          <a:cs typeface="Times New Roman"/>
                        </a:rPr>
                        <a:t>01</a:t>
                      </a:r>
                      <a:endParaRPr lang="en-US" sz="1600" dirty="0">
                        <a:solidFill>
                          <a:srgbClr val="FF0000"/>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28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5" name="Table 34"/>
          <p:cNvGraphicFramePr>
            <a:graphicFrameLocks noGrp="1"/>
          </p:cNvGraphicFramePr>
          <p:nvPr/>
        </p:nvGraphicFramePr>
        <p:xfrm>
          <a:off x="6705600" y="1676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3</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8, 24</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 iv) Delete 12. </a:t>
            </a:r>
          </a:p>
          <a:p>
            <a:pPr marL="342900" lvl="0" indent="-342900" algn="just">
              <a:spcBef>
                <a:spcPct val="20000"/>
              </a:spcBef>
            </a:pPr>
            <a:endPar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2" name="Table 11"/>
          <p:cNvGraphicFramePr>
            <a:graphicFrameLocks noGrp="1"/>
          </p:cNvGraphicFramePr>
          <p:nvPr/>
        </p:nvGraphicFramePr>
        <p:xfrm>
          <a:off x="6705600" y="3200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705600" y="5486400"/>
          <a:ext cx="1371600" cy="533400"/>
        </p:xfrm>
        <a:graphic>
          <a:graphicData uri="http://schemas.openxmlformats.org/drawingml/2006/table">
            <a:tbl>
              <a:tblPr/>
              <a:tblGrid>
                <a:gridCol w="424308"/>
                <a:gridCol w="473646"/>
                <a:gridCol w="473646"/>
              </a:tblGrid>
              <a:tr h="266700">
                <a:tc>
                  <a:txBody>
                    <a:bodyPr/>
                    <a:lstStyle/>
                    <a:p>
                      <a:pPr algn="ctr" fontAlgn="b"/>
                      <a:r>
                        <a:rPr lang="en-US" sz="1400" b="0" i="0" u="none" strike="noStrike" dirty="0" smtClean="0">
                          <a:solidFill>
                            <a:srgbClr val="000000"/>
                          </a:solidFill>
                          <a:latin typeface="Times New Roman" pitchFamily="18" charset="0"/>
                          <a:cs typeface="Times New Roman" pitchFamily="18" charset="0"/>
                        </a:rPr>
                        <a:t>2</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6700">
                <a:tc gridSpan="3">
                  <a:txBody>
                    <a:bodyPr/>
                    <a:lstStyle/>
                    <a:p>
                      <a:pPr algn="ctr" fontAlgn="b"/>
                      <a:r>
                        <a:rPr lang="en-US" sz="1400" b="0" i="0" u="none" strike="noStrike" dirty="0">
                          <a:solidFill>
                            <a:srgbClr val="000000"/>
                          </a:solidFill>
                          <a:latin typeface="Times New Roman" pitchFamily="18" charset="0"/>
                          <a:cs typeface="Times New Roman" pitchFamily="18" charset="0"/>
                        </a:rPr>
                        <a:t> </a:t>
                      </a:r>
                      <a:r>
                        <a:rPr lang="en-US" sz="1400" b="0" i="0" u="none" strike="noStrike" dirty="0" smtClean="0">
                          <a:solidFill>
                            <a:srgbClr val="000000"/>
                          </a:solidFill>
                          <a:latin typeface="Times New Roman" pitchFamily="18" charset="0"/>
                          <a:cs typeface="Times New Roman" pitchFamily="18" charset="0"/>
                        </a:rPr>
                        <a:t>3</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352800"/>
          <a:ext cx="914400" cy="2438400"/>
        </p:xfrm>
        <a:graphic>
          <a:graphicData uri="http://schemas.openxmlformats.org/drawingml/2006/table">
            <a:tbl>
              <a:tblPr firstRow="1" bandRow="1">
                <a:tableStyleId>{5C22544A-7EE6-4342-B048-85BDC9FD1C3A}</a:tableStyleId>
              </a:tblPr>
              <a:tblGrid>
                <a:gridCol w="914400"/>
              </a:tblGrid>
              <a:tr h="226060">
                <a:tc>
                  <a:txBody>
                    <a:bodyPr/>
                    <a:lstStyle/>
                    <a:p>
                      <a:pPr algn="ctr"/>
                      <a:r>
                        <a:rPr lang="en-US" sz="1400" dirty="0" smtClean="0"/>
                        <a:t>000</a:t>
                      </a:r>
                      <a:endParaRPr lang="en-US" sz="1400" dirty="0"/>
                    </a:p>
                  </a:txBody>
                  <a:tcPr/>
                </a:tc>
              </a:tr>
              <a:tr h="226060">
                <a:tc>
                  <a:txBody>
                    <a:bodyPr/>
                    <a:lstStyle/>
                    <a:p>
                      <a:pPr algn="ctr"/>
                      <a:r>
                        <a:rPr lang="en-US" sz="1400" dirty="0" smtClean="0"/>
                        <a:t>001</a:t>
                      </a:r>
                      <a:endParaRPr lang="en-US" sz="1400" dirty="0"/>
                    </a:p>
                  </a:txBody>
                  <a:tcPr/>
                </a:tc>
              </a:tr>
              <a:tr h="226060">
                <a:tc>
                  <a:txBody>
                    <a:bodyPr/>
                    <a:lstStyle/>
                    <a:p>
                      <a:pPr algn="ctr"/>
                      <a:r>
                        <a:rPr lang="en-US" sz="1400" dirty="0" smtClean="0"/>
                        <a:t>010</a:t>
                      </a:r>
                      <a:endParaRPr lang="en-US" sz="1400" dirty="0"/>
                    </a:p>
                  </a:txBody>
                  <a:tcPr/>
                </a:tc>
              </a:tr>
              <a:tr h="226060">
                <a:tc>
                  <a:txBody>
                    <a:bodyPr/>
                    <a:lstStyle/>
                    <a:p>
                      <a:pPr algn="ctr"/>
                      <a:r>
                        <a:rPr lang="en-US" sz="1400" dirty="0" smtClean="0"/>
                        <a:t>011</a:t>
                      </a:r>
                      <a:endParaRPr lang="en-US" sz="1400" dirty="0"/>
                    </a:p>
                  </a:txBody>
                  <a:tcPr/>
                </a:tc>
              </a:tr>
              <a:tr h="226060">
                <a:tc>
                  <a:txBody>
                    <a:bodyPr/>
                    <a:lstStyle/>
                    <a:p>
                      <a:pPr algn="ctr"/>
                      <a:r>
                        <a:rPr lang="en-US" sz="1400" dirty="0" smtClean="0"/>
                        <a:t>100</a:t>
                      </a:r>
                      <a:endParaRPr lang="en-US" sz="1400" dirty="0"/>
                    </a:p>
                  </a:txBody>
                  <a:tcPr/>
                </a:tc>
              </a:tr>
              <a:tr h="226060">
                <a:tc>
                  <a:txBody>
                    <a:bodyPr/>
                    <a:lstStyle/>
                    <a:p>
                      <a:pPr algn="ctr"/>
                      <a:r>
                        <a:rPr lang="en-US" sz="1400" dirty="0" smtClean="0"/>
                        <a:t>101</a:t>
                      </a:r>
                      <a:endParaRPr lang="en-US" sz="1400" dirty="0"/>
                    </a:p>
                  </a:txBody>
                  <a:tcPr/>
                </a:tc>
              </a:tr>
              <a:tr h="226060">
                <a:tc>
                  <a:txBody>
                    <a:bodyPr/>
                    <a:lstStyle/>
                    <a:p>
                      <a:pPr algn="ctr"/>
                      <a:r>
                        <a:rPr lang="en-US" sz="1400" dirty="0" smtClean="0"/>
                        <a:t>110</a:t>
                      </a:r>
                      <a:endParaRPr lang="en-US" sz="1400" dirty="0"/>
                    </a:p>
                  </a:txBody>
                  <a:tcPr/>
                </a:tc>
              </a:tr>
              <a:tr h="226060">
                <a:tc>
                  <a:txBody>
                    <a:bodyPr/>
                    <a:lstStyle/>
                    <a:p>
                      <a:pPr algn="ctr"/>
                      <a:r>
                        <a:rPr lang="en-US" sz="1400" dirty="0" smtClean="0"/>
                        <a:t>111</a:t>
                      </a:r>
                      <a:endParaRPr lang="en-US" sz="1400" dirty="0"/>
                    </a:p>
                  </a:txBody>
                  <a:tcPr/>
                </a:tc>
              </a:tr>
            </a:tbl>
          </a:graphicData>
        </a:graphic>
      </p:graphicFrame>
      <p:sp>
        <p:nvSpPr>
          <p:cNvPr id="16" name="TextBox 15"/>
          <p:cNvSpPr txBox="1"/>
          <p:nvPr/>
        </p:nvSpPr>
        <p:spPr>
          <a:xfrm>
            <a:off x="4343400" y="25908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58674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705600" y="60960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5" name="TextBox 24"/>
          <p:cNvSpPr txBox="1"/>
          <p:nvPr/>
        </p:nvSpPr>
        <p:spPr>
          <a:xfrm>
            <a:off x="4495800" y="3046813"/>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3</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495800" y="2895600"/>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5400000" flipH="1" flipV="1">
            <a:off x="5333999" y="2133601"/>
            <a:ext cx="1447802" cy="1295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5410200" y="4419600"/>
            <a:ext cx="12192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5410200" y="3809999"/>
            <a:ext cx="1295400" cy="5334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6" name="Table 25"/>
          <p:cNvGraphicFramePr>
            <a:graphicFrameLocks noGrp="1"/>
          </p:cNvGraphicFramePr>
          <p:nvPr/>
        </p:nvGraphicFramePr>
        <p:xfrm>
          <a:off x="6705600" y="3965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2</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1, 9, 17</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33" name="Straight Arrow Connector 32"/>
          <p:cNvCxnSpPr/>
          <p:nvPr/>
        </p:nvCxnSpPr>
        <p:spPr>
          <a:xfrm>
            <a:off x="5410200" y="56388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5410200" y="4419600"/>
            <a:ext cx="1295400" cy="1219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rot="5400000" flipH="1" flipV="1">
            <a:off x="5105399" y="3124201"/>
            <a:ext cx="1905002" cy="1295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5410200" y="3657600"/>
            <a:ext cx="1219200" cy="4572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5400000" flipH="1" flipV="1">
            <a:off x="5295900" y="3848100"/>
            <a:ext cx="1600200" cy="1371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6" name="Table 35"/>
          <p:cNvGraphicFramePr>
            <a:graphicFrameLocks noGrp="1"/>
          </p:cNvGraphicFramePr>
          <p:nvPr/>
        </p:nvGraphicFramePr>
        <p:xfrm>
          <a:off x="6692899" y="2438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3</a:t>
                      </a:r>
                      <a:r>
                        <a:rPr lang="en-US" sz="1400" b="0" i="0" u="none" strike="noStrike" dirty="0">
                          <a:solidFill>
                            <a:schemeClr val="tx1"/>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12, 28</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sp>
        <p:nvSpPr>
          <p:cNvPr id="30" name="Content Placeholder 16"/>
          <p:cNvSpPr txBox="1">
            <a:spLocks/>
          </p:cNvSpPr>
          <p:nvPr/>
        </p:nvSpPr>
        <p:spPr>
          <a:xfrm>
            <a:off x="381000" y="2057400"/>
            <a:ext cx="3962400" cy="1524000"/>
          </a:xfrm>
          <a:prstGeom prst="rect">
            <a:avLst/>
          </a:prstGeom>
        </p:spPr>
        <p:txBody>
          <a:bodyPr/>
          <a:lstStyle/>
          <a:p>
            <a:pPr marL="342900" lvl="0" indent="-342900" algn="just">
              <a:spcBef>
                <a:spcPct val="20000"/>
              </a:spcBef>
              <a:defRPr/>
            </a:pPr>
            <a:r>
              <a:rPr lang="en-US" sz="1600" dirty="0" smtClean="0">
                <a:latin typeface="Times New Roman" pitchFamily="18" charset="0"/>
                <a:cs typeface="Times New Roman" pitchFamily="18" charset="0"/>
              </a:rPr>
              <a:t>	 We will simply delete 12 from the corresponding bucket there can not be any merging of buckets on deletion. </a:t>
            </a:r>
            <a:endPar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32" name="Table 31"/>
          <p:cNvGraphicFramePr>
            <a:graphicFrameLocks noGrp="1"/>
          </p:cNvGraphicFramePr>
          <p:nvPr/>
        </p:nvGraphicFramePr>
        <p:xfrm>
          <a:off x="1066800" y="3428997"/>
          <a:ext cx="2819400" cy="3048003"/>
        </p:xfrm>
        <a:graphic>
          <a:graphicData uri="http://schemas.openxmlformats.org/drawingml/2006/table">
            <a:tbl>
              <a:tblPr/>
              <a:tblGrid>
                <a:gridCol w="1228969"/>
                <a:gridCol w="1590431"/>
              </a:tblGrid>
              <a:tr h="338667">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a:ea typeface="Times New Roman"/>
                          <a:cs typeface="Times New Roman"/>
                        </a:rPr>
                        <a:t>Binary form</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3</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011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5</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000</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9</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12</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17</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28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5" name="Table 34"/>
          <p:cNvGraphicFramePr>
            <a:graphicFrameLocks noGrp="1"/>
          </p:cNvGraphicFramePr>
          <p:nvPr/>
        </p:nvGraphicFramePr>
        <p:xfrm>
          <a:off x="6705600" y="1676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3</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8, 24</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 iv) Delete 12. </a:t>
            </a:r>
          </a:p>
          <a:p>
            <a:pPr marL="342900" lvl="0" indent="-342900" algn="just">
              <a:spcBef>
                <a:spcPct val="20000"/>
              </a:spcBef>
            </a:pPr>
            <a:endPar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12" name="Table 11"/>
          <p:cNvGraphicFramePr>
            <a:graphicFrameLocks noGrp="1"/>
          </p:cNvGraphicFramePr>
          <p:nvPr/>
        </p:nvGraphicFramePr>
        <p:xfrm>
          <a:off x="6705600" y="3200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6705600" y="5486400"/>
          <a:ext cx="1371600" cy="533400"/>
        </p:xfrm>
        <a:graphic>
          <a:graphicData uri="http://schemas.openxmlformats.org/drawingml/2006/table">
            <a:tbl>
              <a:tblPr/>
              <a:tblGrid>
                <a:gridCol w="424308"/>
                <a:gridCol w="473646"/>
                <a:gridCol w="473646"/>
              </a:tblGrid>
              <a:tr h="266700">
                <a:tc>
                  <a:txBody>
                    <a:bodyPr/>
                    <a:lstStyle/>
                    <a:p>
                      <a:pPr algn="ctr" fontAlgn="b"/>
                      <a:r>
                        <a:rPr lang="en-US" sz="1400" b="0" i="0" u="none" strike="noStrike" dirty="0" smtClean="0">
                          <a:solidFill>
                            <a:srgbClr val="000000"/>
                          </a:solidFill>
                          <a:latin typeface="Times New Roman" pitchFamily="18" charset="0"/>
                          <a:cs typeface="Times New Roman" pitchFamily="18" charset="0"/>
                        </a:rPr>
                        <a:t>2</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6700">
                <a:tc gridSpan="3">
                  <a:txBody>
                    <a:bodyPr/>
                    <a:lstStyle/>
                    <a:p>
                      <a:pPr algn="ctr" fontAlgn="b"/>
                      <a:r>
                        <a:rPr lang="en-US" sz="1400" b="0" i="0" u="none" strike="noStrike" dirty="0">
                          <a:solidFill>
                            <a:srgbClr val="000000"/>
                          </a:solidFill>
                          <a:latin typeface="Times New Roman" pitchFamily="18" charset="0"/>
                          <a:cs typeface="Times New Roman" pitchFamily="18" charset="0"/>
                        </a:rPr>
                        <a:t> </a:t>
                      </a:r>
                      <a:r>
                        <a:rPr lang="en-US" sz="1400" b="0" i="0" u="none" strike="noStrike" dirty="0" smtClean="0">
                          <a:solidFill>
                            <a:srgbClr val="000000"/>
                          </a:solidFill>
                          <a:latin typeface="Times New Roman" pitchFamily="18" charset="0"/>
                          <a:cs typeface="Times New Roman" pitchFamily="18" charset="0"/>
                        </a:rPr>
                        <a:t>3</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4" name="Table 13"/>
          <p:cNvGraphicFramePr>
            <a:graphicFrameLocks noGrp="1"/>
          </p:cNvGraphicFramePr>
          <p:nvPr/>
        </p:nvGraphicFramePr>
        <p:xfrm>
          <a:off x="4495800" y="3352800"/>
          <a:ext cx="914400" cy="2438400"/>
        </p:xfrm>
        <a:graphic>
          <a:graphicData uri="http://schemas.openxmlformats.org/drawingml/2006/table">
            <a:tbl>
              <a:tblPr firstRow="1" bandRow="1">
                <a:tableStyleId>{5C22544A-7EE6-4342-B048-85BDC9FD1C3A}</a:tableStyleId>
              </a:tblPr>
              <a:tblGrid>
                <a:gridCol w="914400"/>
              </a:tblGrid>
              <a:tr h="226060">
                <a:tc>
                  <a:txBody>
                    <a:bodyPr/>
                    <a:lstStyle/>
                    <a:p>
                      <a:pPr algn="ctr"/>
                      <a:r>
                        <a:rPr lang="en-US" sz="1400" dirty="0" smtClean="0"/>
                        <a:t>000</a:t>
                      </a:r>
                      <a:endParaRPr lang="en-US" sz="1400" dirty="0"/>
                    </a:p>
                  </a:txBody>
                  <a:tcPr/>
                </a:tc>
              </a:tr>
              <a:tr h="226060">
                <a:tc>
                  <a:txBody>
                    <a:bodyPr/>
                    <a:lstStyle/>
                    <a:p>
                      <a:pPr algn="ctr"/>
                      <a:r>
                        <a:rPr lang="en-US" sz="1400" dirty="0" smtClean="0"/>
                        <a:t>001</a:t>
                      </a:r>
                      <a:endParaRPr lang="en-US" sz="1400" dirty="0"/>
                    </a:p>
                  </a:txBody>
                  <a:tcPr/>
                </a:tc>
              </a:tr>
              <a:tr h="226060">
                <a:tc>
                  <a:txBody>
                    <a:bodyPr/>
                    <a:lstStyle/>
                    <a:p>
                      <a:pPr algn="ctr"/>
                      <a:r>
                        <a:rPr lang="en-US" sz="1400" dirty="0" smtClean="0"/>
                        <a:t>010</a:t>
                      </a:r>
                      <a:endParaRPr lang="en-US" sz="1400" dirty="0"/>
                    </a:p>
                  </a:txBody>
                  <a:tcPr/>
                </a:tc>
              </a:tr>
              <a:tr h="226060">
                <a:tc>
                  <a:txBody>
                    <a:bodyPr/>
                    <a:lstStyle/>
                    <a:p>
                      <a:pPr algn="ctr"/>
                      <a:r>
                        <a:rPr lang="en-US" sz="1400" dirty="0" smtClean="0"/>
                        <a:t>011</a:t>
                      </a:r>
                      <a:endParaRPr lang="en-US" sz="1400" dirty="0"/>
                    </a:p>
                  </a:txBody>
                  <a:tcPr/>
                </a:tc>
              </a:tr>
              <a:tr h="226060">
                <a:tc>
                  <a:txBody>
                    <a:bodyPr/>
                    <a:lstStyle/>
                    <a:p>
                      <a:pPr algn="ctr"/>
                      <a:r>
                        <a:rPr lang="en-US" sz="1400" dirty="0" smtClean="0"/>
                        <a:t>100</a:t>
                      </a:r>
                      <a:endParaRPr lang="en-US" sz="1400" dirty="0"/>
                    </a:p>
                  </a:txBody>
                  <a:tcPr/>
                </a:tc>
              </a:tr>
              <a:tr h="226060">
                <a:tc>
                  <a:txBody>
                    <a:bodyPr/>
                    <a:lstStyle/>
                    <a:p>
                      <a:pPr algn="ctr"/>
                      <a:r>
                        <a:rPr lang="en-US" sz="1400" dirty="0" smtClean="0"/>
                        <a:t>101</a:t>
                      </a:r>
                      <a:endParaRPr lang="en-US" sz="1400" dirty="0"/>
                    </a:p>
                  </a:txBody>
                  <a:tcPr/>
                </a:tc>
              </a:tr>
              <a:tr h="226060">
                <a:tc>
                  <a:txBody>
                    <a:bodyPr/>
                    <a:lstStyle/>
                    <a:p>
                      <a:pPr algn="ctr"/>
                      <a:r>
                        <a:rPr lang="en-US" sz="1400" dirty="0" smtClean="0"/>
                        <a:t>110</a:t>
                      </a:r>
                      <a:endParaRPr lang="en-US" sz="1400" dirty="0"/>
                    </a:p>
                  </a:txBody>
                  <a:tcPr/>
                </a:tc>
              </a:tr>
              <a:tr h="226060">
                <a:tc>
                  <a:txBody>
                    <a:bodyPr/>
                    <a:lstStyle/>
                    <a:p>
                      <a:pPr algn="ctr"/>
                      <a:r>
                        <a:rPr lang="en-US" sz="1400" dirty="0" smtClean="0"/>
                        <a:t>111</a:t>
                      </a:r>
                      <a:endParaRPr lang="en-US" sz="1400" dirty="0"/>
                    </a:p>
                  </a:txBody>
                  <a:tcPr/>
                </a:tc>
              </a:tr>
            </a:tbl>
          </a:graphicData>
        </a:graphic>
      </p:graphicFrame>
      <p:sp>
        <p:nvSpPr>
          <p:cNvPr id="16" name="TextBox 15"/>
          <p:cNvSpPr txBox="1"/>
          <p:nvPr/>
        </p:nvSpPr>
        <p:spPr>
          <a:xfrm>
            <a:off x="4343400" y="25908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Global Depth</a:t>
            </a:r>
            <a:endParaRPr lang="en-US" sz="1400" dirty="0">
              <a:latin typeface="Times New Roman" pitchFamily="18" charset="0"/>
              <a:cs typeface="Times New Roman" pitchFamily="18" charset="0"/>
            </a:endParaRPr>
          </a:p>
        </p:txBody>
      </p:sp>
      <p:sp>
        <p:nvSpPr>
          <p:cNvPr id="17" name="TextBox 16"/>
          <p:cNvSpPr txBox="1"/>
          <p:nvPr/>
        </p:nvSpPr>
        <p:spPr>
          <a:xfrm>
            <a:off x="4343400" y="58674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Directories</a:t>
            </a:r>
            <a:endParaRPr lang="en-US" sz="1400" dirty="0">
              <a:latin typeface="Times New Roman" pitchFamily="18" charset="0"/>
              <a:cs typeface="Times New Roman" pitchFamily="18" charset="0"/>
            </a:endParaRPr>
          </a:p>
        </p:txBody>
      </p:sp>
      <p:sp>
        <p:nvSpPr>
          <p:cNvPr id="21" name="TextBox 20"/>
          <p:cNvSpPr txBox="1"/>
          <p:nvPr/>
        </p:nvSpPr>
        <p:spPr>
          <a:xfrm>
            <a:off x="6705600" y="6096000"/>
            <a:ext cx="1295400" cy="307777"/>
          </a:xfrm>
          <a:prstGeom prst="rect">
            <a:avLst/>
          </a:prstGeom>
          <a:noFill/>
        </p:spPr>
        <p:txBody>
          <a:bodyPr wrap="square" rtlCol="0">
            <a:spAutoFit/>
          </a:bodyPr>
          <a:lstStyle/>
          <a:p>
            <a:pPr algn="ctr"/>
            <a:r>
              <a:rPr lang="en-US" sz="1400" dirty="0" smtClean="0">
                <a:latin typeface="Times New Roman" pitchFamily="18" charset="0"/>
                <a:cs typeface="Times New Roman" pitchFamily="18" charset="0"/>
              </a:rPr>
              <a:t>Buckets</a:t>
            </a:r>
            <a:endParaRPr lang="en-US" sz="1400" dirty="0">
              <a:latin typeface="Times New Roman" pitchFamily="18" charset="0"/>
              <a:cs typeface="Times New Roman" pitchFamily="18" charset="0"/>
            </a:endParaRPr>
          </a:p>
        </p:txBody>
      </p:sp>
      <p:sp>
        <p:nvSpPr>
          <p:cNvPr id="25" name="TextBox 24"/>
          <p:cNvSpPr txBox="1"/>
          <p:nvPr/>
        </p:nvSpPr>
        <p:spPr>
          <a:xfrm>
            <a:off x="4495800" y="3046813"/>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3</a:t>
            </a:r>
            <a:endParaRPr lang="en-US" sz="1400" dirty="0">
              <a:latin typeface="Times New Roman" pitchFamily="18" charset="0"/>
              <a:cs typeface="Times New Roman" pitchFamily="18" charset="0"/>
            </a:endParaRPr>
          </a:p>
        </p:txBody>
      </p:sp>
      <p:cxnSp>
        <p:nvCxnSpPr>
          <p:cNvPr id="27" name="Straight Arrow Connector 26"/>
          <p:cNvCxnSpPr/>
          <p:nvPr/>
        </p:nvCxnSpPr>
        <p:spPr>
          <a:xfrm rot="5400000">
            <a:off x="4495800" y="2895600"/>
            <a:ext cx="228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5400000" flipH="1" flipV="1">
            <a:off x="5333999" y="2133601"/>
            <a:ext cx="1447802" cy="1295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V="1">
            <a:off x="5410200" y="4419600"/>
            <a:ext cx="12192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5410200" y="3809999"/>
            <a:ext cx="1295400" cy="5334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26" name="Table 25"/>
          <p:cNvGraphicFramePr>
            <a:graphicFrameLocks noGrp="1"/>
          </p:cNvGraphicFramePr>
          <p:nvPr/>
        </p:nvGraphicFramePr>
        <p:xfrm>
          <a:off x="6705600" y="39653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2</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1, 9, 17</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33" name="Straight Arrow Connector 32"/>
          <p:cNvCxnSpPr/>
          <p:nvPr/>
        </p:nvCxnSpPr>
        <p:spPr>
          <a:xfrm>
            <a:off x="5410200" y="56388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5410200" y="4419600"/>
            <a:ext cx="1295400" cy="1219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rot="5400000" flipH="1" flipV="1">
            <a:off x="5105399" y="3124201"/>
            <a:ext cx="1905002" cy="1295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5410200" y="3657600"/>
            <a:ext cx="1219200" cy="4572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rot="5400000" flipH="1" flipV="1">
            <a:off x="5295900" y="3848100"/>
            <a:ext cx="1600200" cy="1371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6" name="Table 35"/>
          <p:cNvGraphicFramePr>
            <a:graphicFrameLocks noGrp="1"/>
          </p:cNvGraphicFramePr>
          <p:nvPr/>
        </p:nvGraphicFramePr>
        <p:xfrm>
          <a:off x="6692899" y="2438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3</a:t>
                      </a:r>
                      <a:r>
                        <a:rPr lang="en-US" sz="1400" b="0" i="0" u="none" strike="noStrike" dirty="0">
                          <a:solidFill>
                            <a:schemeClr val="tx1"/>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smtClean="0">
                          <a:solidFill>
                            <a:schemeClr val="tx1"/>
                          </a:solidFill>
                          <a:latin typeface="Times New Roman" pitchFamily="18" charset="0"/>
                          <a:cs typeface="Times New Roman" pitchFamily="18" charset="0"/>
                        </a:rPr>
                        <a:t>28</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sp>
        <p:nvSpPr>
          <p:cNvPr id="30" name="Content Placeholder 16"/>
          <p:cNvSpPr txBox="1">
            <a:spLocks/>
          </p:cNvSpPr>
          <p:nvPr/>
        </p:nvSpPr>
        <p:spPr>
          <a:xfrm>
            <a:off x="381000" y="2057400"/>
            <a:ext cx="3962400" cy="1524000"/>
          </a:xfrm>
          <a:prstGeom prst="rect">
            <a:avLst/>
          </a:prstGeom>
        </p:spPr>
        <p:txBody>
          <a:bodyPr/>
          <a:lstStyle/>
          <a:p>
            <a:pPr marL="342900" lvl="0" indent="-342900" algn="just">
              <a:spcBef>
                <a:spcPct val="20000"/>
              </a:spcBef>
              <a:defRPr/>
            </a:pPr>
            <a:r>
              <a:rPr lang="en-US" sz="1600" dirty="0" smtClean="0">
                <a:latin typeface="Times New Roman" pitchFamily="18" charset="0"/>
                <a:cs typeface="Times New Roman" pitchFamily="18" charset="0"/>
              </a:rPr>
              <a:t>	 The result of deletion 12 is as given below </a:t>
            </a:r>
            <a:endParaRPr kumimoji="0" lang="en-US" sz="16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graphicFrame>
        <p:nvGraphicFramePr>
          <p:cNvPr id="32" name="Table 31"/>
          <p:cNvGraphicFramePr>
            <a:graphicFrameLocks noGrp="1"/>
          </p:cNvGraphicFramePr>
          <p:nvPr/>
        </p:nvGraphicFramePr>
        <p:xfrm>
          <a:off x="1066800" y="2743200"/>
          <a:ext cx="2819400" cy="3048003"/>
        </p:xfrm>
        <a:graphic>
          <a:graphicData uri="http://schemas.openxmlformats.org/drawingml/2006/table">
            <a:tbl>
              <a:tblPr/>
              <a:tblGrid>
                <a:gridCol w="1228969"/>
                <a:gridCol w="1590431"/>
              </a:tblGrid>
              <a:tr h="338667">
                <a:tc>
                  <a:txBody>
                    <a:bodyPr/>
                    <a:lstStyle/>
                    <a:p>
                      <a:pPr marL="0" marR="0" algn="ctr">
                        <a:lnSpc>
                          <a:spcPct val="115000"/>
                        </a:lnSpc>
                        <a:spcBef>
                          <a:spcPts val="0"/>
                        </a:spcBef>
                        <a:spcAft>
                          <a:spcPts val="0"/>
                        </a:spcAft>
                      </a:pPr>
                      <a:r>
                        <a:rPr lang="en-US" sz="1600" b="1" dirty="0">
                          <a:latin typeface="Times New Roman"/>
                          <a:ea typeface="Times New Roman"/>
                          <a:cs typeface="Times New Roman"/>
                        </a:rPr>
                        <a:t>Data</a:t>
                      </a:r>
                      <a:endParaRPr lang="en-US" sz="1600" dirty="0">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a:ea typeface="Times New Roman"/>
                          <a:cs typeface="Times New Roman"/>
                        </a:rPr>
                        <a:t>Binary form</a:t>
                      </a:r>
                      <a:endParaRPr lang="en-US"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3</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011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5</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000</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9</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12</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17</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001</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667">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28</a:t>
                      </a:r>
                      <a:endParaRPr lang="en-US" sz="1600" dirty="0">
                        <a:solidFill>
                          <a:schemeClr val="tx1"/>
                        </a:solidFill>
                        <a:latin typeface="Calibri"/>
                        <a:ea typeface="Times New Roman"/>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dirty="0">
                          <a:solidFill>
                            <a:schemeClr val="tx1"/>
                          </a:solidFill>
                          <a:latin typeface="Times New Roman"/>
                          <a:ea typeface="Times New Roman"/>
                          <a:cs typeface="Times New Roman"/>
                        </a:rPr>
                        <a:t>100</a:t>
                      </a:r>
                      <a:endParaRPr lang="en-US" sz="1600" dirty="0">
                        <a:solidFill>
                          <a:schemeClr val="tx1"/>
                        </a:solidFill>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5" name="Table 34"/>
          <p:cNvGraphicFramePr>
            <a:graphicFrameLocks noGrp="1"/>
          </p:cNvGraphicFramePr>
          <p:nvPr/>
        </p:nvGraphicFramePr>
        <p:xfrm>
          <a:off x="6705600" y="16764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3</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8, 24</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lvl="0" indent="-342900" algn="just">
              <a:spcBef>
                <a:spcPct val="20000"/>
              </a:spcBef>
              <a:buFont typeface="Wingdings" pitchFamily="2" charset="2"/>
              <a:buChar char="q"/>
              <a:defRPr/>
            </a:pPr>
            <a:r>
              <a:rPr lang="en-US" sz="2400" b="1" dirty="0" smtClean="0">
                <a:latin typeface="Times New Roman" pitchFamily="18" charset="0"/>
                <a:cs typeface="Times New Roman" pitchFamily="18" charset="0"/>
              </a:rPr>
              <a:t>Example Static Hashing VS Dynamic Hashing</a:t>
            </a:r>
          </a:p>
          <a:p>
            <a:pPr marL="342900" lvl="0" indent="-342900" algn="just">
              <a:spcBef>
                <a:spcPct val="20000"/>
              </a:spcBef>
            </a:pPr>
            <a:r>
              <a:rPr kumimoji="0" lang="en-US" sz="24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algn="just"/>
            <a:r>
              <a:rPr lang="en-US" sz="2400" b="1" dirty="0" smtClean="0">
                <a:latin typeface="Times New Roman" pitchFamily="18" charset="0"/>
                <a:cs typeface="Times New Roman" pitchFamily="18" charset="0"/>
              </a:rPr>
              <a:t>Static Hashing:</a:t>
            </a:r>
          </a:p>
          <a:p>
            <a:pPr lvl="1" algn="just">
              <a:buFont typeface="Wingdings" pitchFamily="2" charset="2"/>
              <a:buChar char="§"/>
            </a:pP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The number of buckets is fixed.</a:t>
            </a:r>
          </a:p>
          <a:p>
            <a:pPr lvl="1" algn="just">
              <a:buFont typeface="Wingdings" pitchFamily="2" charset="2"/>
              <a:buChar char="§"/>
            </a:pPr>
            <a:r>
              <a:rPr lang="en-US" sz="2400" dirty="0" smtClean="0">
                <a:latin typeface="Times New Roman" pitchFamily="18" charset="0"/>
                <a:cs typeface="Times New Roman" pitchFamily="18" charset="0"/>
              </a:rPr>
              <a:t>  Chaining is used.</a:t>
            </a:r>
          </a:p>
          <a:p>
            <a:pPr lvl="1" algn="just">
              <a:buFont typeface="Wingdings" pitchFamily="2" charset="2"/>
              <a:buChar char="§"/>
            </a:pPr>
            <a:r>
              <a:rPr lang="en-US" sz="2400" dirty="0" smtClean="0">
                <a:latin typeface="Times New Roman" pitchFamily="18" charset="0"/>
                <a:cs typeface="Times New Roman" pitchFamily="18" charset="0"/>
              </a:rPr>
              <a:t>  Open hashing and closed hashing are forms of static hashing.</a:t>
            </a:r>
          </a:p>
          <a:p>
            <a:pPr lvl="1" algn="just">
              <a:buFont typeface="Wingdings" pitchFamily="2" charset="2"/>
              <a:buChar char="§"/>
            </a:pPr>
            <a:r>
              <a:rPr lang="en-US" sz="2400" dirty="0" smtClean="0">
                <a:latin typeface="Times New Roman" pitchFamily="18" charset="0"/>
                <a:cs typeface="Times New Roman" pitchFamily="18" charset="0"/>
              </a:rPr>
              <a:t>  Space overhead is more.</a:t>
            </a:r>
          </a:p>
          <a:p>
            <a:pPr lvl="1" algn="just">
              <a:buFont typeface="Wingdings" pitchFamily="2" charset="2"/>
              <a:buChar char="§"/>
            </a:pPr>
            <a:r>
              <a:rPr lang="en-US" sz="2400" dirty="0" smtClean="0">
                <a:latin typeface="Times New Roman" pitchFamily="18" charset="0"/>
                <a:cs typeface="Times New Roman" pitchFamily="18" charset="0"/>
              </a:rPr>
              <a:t>  As file grows, the performance of static hashing decreases. </a:t>
            </a:r>
          </a:p>
          <a:p>
            <a:pPr lvl="1" algn="just">
              <a:buFont typeface="Wingdings" pitchFamily="2" charset="2"/>
              <a:buChar char="§"/>
            </a:pPr>
            <a:r>
              <a:rPr lang="en-US" sz="2400" dirty="0" smtClean="0">
                <a:latin typeface="Times New Roman" pitchFamily="18" charset="0"/>
                <a:cs typeface="Times New Roman" pitchFamily="18" charset="0"/>
              </a:rPr>
              <a:t>  The bucket address table is not required.</a:t>
            </a:r>
          </a:p>
          <a:p>
            <a:pPr lvl="1" algn="just">
              <a:buFont typeface="Wingdings" pitchFamily="2" charset="2"/>
              <a:buChar char="§"/>
            </a:pPr>
            <a:r>
              <a:rPr lang="en-US" sz="2400" dirty="0" smtClean="0">
                <a:latin typeface="Times New Roman" pitchFamily="18" charset="0"/>
                <a:cs typeface="Times New Roman" pitchFamily="18" charset="0"/>
              </a:rPr>
              <a:t>  The bucket is directly accessed.</a:t>
            </a:r>
          </a:p>
          <a:p>
            <a:pPr marL="342900" lvl="0" indent="-342900" algn="just">
              <a:spcBef>
                <a:spcPct val="20000"/>
              </a:spcBef>
            </a:pPr>
            <a:endPar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lvl="0" indent="-342900" algn="just">
              <a:spcBef>
                <a:spcPct val="20000"/>
              </a:spcBef>
              <a:buFont typeface="Wingdings" pitchFamily="2" charset="2"/>
              <a:buChar char="q"/>
              <a:defRPr/>
            </a:pPr>
            <a:r>
              <a:rPr lang="en-US" sz="2400" b="1" dirty="0" smtClean="0">
                <a:latin typeface="Times New Roman" pitchFamily="18" charset="0"/>
                <a:cs typeface="Times New Roman" pitchFamily="18" charset="0"/>
              </a:rPr>
              <a:t>Example Static Hashing VS Dynamic Hashing</a:t>
            </a:r>
          </a:p>
          <a:p>
            <a:pPr marL="342900" lvl="0" indent="-342900" algn="just">
              <a:spcBef>
                <a:spcPct val="20000"/>
              </a:spcBef>
            </a:pPr>
            <a:r>
              <a:rPr kumimoji="0" lang="en-US" sz="24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algn="just"/>
            <a:r>
              <a:rPr lang="en-US" sz="2400" b="1" dirty="0" smtClean="0">
                <a:latin typeface="Times New Roman" pitchFamily="18" charset="0"/>
                <a:cs typeface="Times New Roman" pitchFamily="18" charset="0"/>
              </a:rPr>
              <a:t>Dynamic Hashing:</a:t>
            </a:r>
          </a:p>
          <a:p>
            <a:pPr lvl="1" algn="just">
              <a:buFont typeface="Wingdings" pitchFamily="2" charset="2"/>
              <a:buChar char="§"/>
            </a:pP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The number of buckets is not fixed.</a:t>
            </a:r>
          </a:p>
          <a:p>
            <a:pPr lvl="1" algn="just">
              <a:buFont typeface="Wingdings" pitchFamily="2" charset="2"/>
              <a:buChar char="§"/>
            </a:pPr>
            <a:r>
              <a:rPr lang="en-US" sz="2400" dirty="0" smtClean="0">
                <a:latin typeface="Times New Roman" pitchFamily="18" charset="0"/>
                <a:cs typeface="Times New Roman" pitchFamily="18" charset="0"/>
              </a:rPr>
              <a:t>  There is no need of chaining.</a:t>
            </a:r>
          </a:p>
          <a:p>
            <a:pPr lvl="1" algn="just">
              <a:buFont typeface="Wingdings" pitchFamily="2" charset="2"/>
              <a:buChar char="§"/>
            </a:pPr>
            <a:r>
              <a:rPr lang="en-US" sz="2400" dirty="0" smtClean="0">
                <a:latin typeface="Times New Roman" pitchFamily="18" charset="0"/>
                <a:cs typeface="Times New Roman" pitchFamily="18" charset="0"/>
              </a:rPr>
              <a:t>  Extendible hashing and Linear hashing are forms of dynamic hashing.</a:t>
            </a:r>
          </a:p>
          <a:p>
            <a:pPr lvl="1" algn="just">
              <a:buFont typeface="Wingdings" pitchFamily="2" charset="2"/>
              <a:buChar char="§"/>
            </a:pPr>
            <a:r>
              <a:rPr lang="en-US" sz="2400" dirty="0" smtClean="0">
                <a:latin typeface="Times New Roman" pitchFamily="18" charset="0"/>
                <a:cs typeface="Times New Roman" pitchFamily="18" charset="0"/>
              </a:rPr>
              <a:t>  Minimum space overhead due to dynamic nature.</a:t>
            </a:r>
          </a:p>
          <a:p>
            <a:pPr lvl="1" algn="just">
              <a:buFont typeface="Wingdings" pitchFamily="2" charset="2"/>
              <a:buChar char="§"/>
            </a:pPr>
            <a:r>
              <a:rPr lang="en-US" sz="2400" dirty="0" smtClean="0">
                <a:latin typeface="Times New Roman" pitchFamily="18" charset="0"/>
                <a:cs typeface="Times New Roman" pitchFamily="18" charset="0"/>
              </a:rPr>
              <a:t>  There is no degradation in performance while the file grows.</a:t>
            </a:r>
          </a:p>
          <a:p>
            <a:pPr lvl="1" algn="just">
              <a:buFont typeface="Wingdings" pitchFamily="2" charset="2"/>
              <a:buChar char="§"/>
            </a:pPr>
            <a:r>
              <a:rPr lang="en-US" sz="2400" dirty="0" smtClean="0">
                <a:latin typeface="Times New Roman" pitchFamily="18" charset="0"/>
                <a:cs typeface="Times New Roman" pitchFamily="18" charset="0"/>
              </a:rPr>
              <a:t>  The bucket address table is required.</a:t>
            </a:r>
          </a:p>
          <a:p>
            <a:pPr lvl="1" algn="just">
              <a:buFont typeface="Wingdings" pitchFamily="2" charset="2"/>
              <a:buChar char="§"/>
            </a:pPr>
            <a:r>
              <a:rPr lang="en-US" sz="2400" dirty="0" smtClean="0">
                <a:latin typeface="Times New Roman" pitchFamily="18" charset="0"/>
                <a:cs typeface="Times New Roman" pitchFamily="18" charset="0"/>
              </a:rPr>
              <a:t>  The bucket address table is used to access the bucket.</a:t>
            </a:r>
            <a:endParaRPr kumimoji="0" lang="en-US" sz="24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Content Placeholder 16"/>
          <p:cNvSpPr txBox="1">
            <a:spLocks/>
          </p:cNvSpPr>
          <p:nvPr/>
        </p:nvSpPr>
        <p:spPr>
          <a:xfrm>
            <a:off x="457200" y="1371600"/>
            <a:ext cx="8229600" cy="4525963"/>
          </a:xfrm>
          <a:prstGeom prst="rect">
            <a:avLst/>
          </a:prstGeom>
        </p:spPr>
        <p:txBody>
          <a:bodyPr/>
          <a:lstStyle/>
          <a:p>
            <a:pPr marL="342900" lvl="0" indent="-342900" algn="just">
              <a:spcBef>
                <a:spcPct val="20000"/>
              </a:spcBef>
              <a:buFont typeface="Wingdings" pitchFamily="2" charset="2"/>
              <a:buChar char="q"/>
              <a:defRPr/>
            </a:pPr>
            <a:r>
              <a:rPr lang="en-US" sz="2000" b="1" dirty="0" smtClean="0">
                <a:latin typeface="Times New Roman" pitchFamily="18" charset="0"/>
                <a:cs typeface="Times New Roman" pitchFamily="18" charset="0"/>
              </a:rPr>
              <a:t>Why is a hash structure not the best choice for a search key on which range queries are likely?</a:t>
            </a:r>
          </a:p>
          <a:p>
            <a:pPr marL="342900" lvl="0" indent="-342900" algn="just">
              <a:spcBef>
                <a:spcPct val="20000"/>
              </a:spcBef>
            </a:pPr>
            <a:endParaRPr lang="en-US" sz="2000" b="1" dirty="0" smtClean="0">
              <a:latin typeface="Times New Roman" pitchFamily="18" charset="0"/>
              <a:cs typeface="Times New Roman" pitchFamily="18" charset="0"/>
            </a:endParaRPr>
          </a:p>
          <a:p>
            <a:pPr lvl="1" algn="just"/>
            <a:r>
              <a:rPr lang="en-US" sz="2000" smtClean="0">
                <a:latin typeface="Times New Roman" pitchFamily="18" charset="0"/>
                <a:cs typeface="Times New Roman" pitchFamily="18" charset="0"/>
              </a:rPr>
              <a:t>A </a:t>
            </a:r>
            <a:r>
              <a:rPr lang="en-US" sz="2000" dirty="0" smtClean="0">
                <a:latin typeface="Times New Roman" pitchFamily="18" charset="0"/>
                <a:cs typeface="Times New Roman" pitchFamily="18" charset="0"/>
              </a:rPr>
              <a:t>range query cannot be answered </a:t>
            </a:r>
            <a:r>
              <a:rPr lang="en-US" sz="2000" dirty="0" err="1" smtClean="0">
                <a:latin typeface="Times New Roman" pitchFamily="18" charset="0"/>
                <a:cs typeface="Times New Roman" pitchFamily="18" charset="0"/>
              </a:rPr>
              <a:t>effciently</a:t>
            </a:r>
            <a:r>
              <a:rPr lang="en-US" sz="2000" dirty="0" smtClean="0">
                <a:latin typeface="Times New Roman" pitchFamily="18" charset="0"/>
                <a:cs typeface="Times New Roman" pitchFamily="18" charset="0"/>
              </a:rPr>
              <a:t> using a hash index, we will have to read all the buckets. This is because key values in the range do not occupy consecutive locations in the buckets, they are distributed uniformly and randomly throughout all the buckets.</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1" name="Content Placeholder 16"/>
          <p:cNvSpPr txBox="1">
            <a:spLocks/>
          </p:cNvSpPr>
          <p:nvPr/>
        </p:nvSpPr>
        <p:spPr>
          <a:xfrm>
            <a:off x="457200" y="14478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400" b="1" dirty="0" smtClean="0">
                <a:latin typeface="Times New Roman" pitchFamily="18" charset="0"/>
                <a:cs typeface="Times New Roman" pitchFamily="18" charset="0"/>
              </a:rPr>
              <a:t>Example A</a:t>
            </a:r>
            <a:endParaRPr lang="en-US" sz="2400" b="1" dirty="0" smtClean="0">
              <a:latin typeface="Times New Roman" pitchFamily="18" charset="0"/>
              <a:cs typeface="Times New Roman" pitchFamily="18" charset="0"/>
            </a:endParaRPr>
          </a:p>
          <a:p>
            <a:pPr lvl="0" algn="just"/>
            <a:r>
              <a:rPr lang="en-US" sz="2400" dirty="0" smtClean="0">
                <a:latin typeface="Times New Roman" pitchFamily="18" charset="0"/>
                <a:cs typeface="Times New Roman" pitchFamily="18" charset="0"/>
              </a:rPr>
              <a:t>Suppose that we are using extendable hashing on a file that contains records with the following search-key values:</a:t>
            </a:r>
          </a:p>
          <a:p>
            <a:pPr algn="just"/>
            <a:r>
              <a:rPr lang="en-US" sz="2400" dirty="0" smtClean="0">
                <a:latin typeface="Times New Roman" pitchFamily="18" charset="0"/>
                <a:cs typeface="Times New Roman" pitchFamily="18" charset="0"/>
              </a:rPr>
              <a:t>	2, 3, 5, 7, 11, 17, 19, 23, 29, 31</a:t>
            </a:r>
          </a:p>
          <a:p>
            <a:pPr algn="just"/>
            <a:r>
              <a:rPr lang="en-US" sz="2400" dirty="0" smtClean="0">
                <a:latin typeface="Times New Roman" pitchFamily="18" charset="0"/>
                <a:cs typeface="Times New Roman" pitchFamily="18" charset="0"/>
              </a:rPr>
              <a:t> </a:t>
            </a:r>
          </a:p>
          <a:p>
            <a:pPr algn="just"/>
            <a:r>
              <a:rPr lang="en-US" sz="2400" dirty="0" smtClean="0">
                <a:latin typeface="Times New Roman" pitchFamily="18" charset="0"/>
                <a:cs typeface="Times New Roman" pitchFamily="18" charset="0"/>
              </a:rPr>
              <a:t>Show the extendable hash structure for this file if the hash function is </a:t>
            </a:r>
            <a:r>
              <a:rPr lang="en-US" sz="2400" i="1" dirty="0" smtClean="0">
                <a:latin typeface="Times New Roman" pitchFamily="18" charset="0"/>
                <a:cs typeface="Times New Roman" pitchFamily="18" charset="0"/>
              </a:rPr>
              <a:t>h</a:t>
            </a:r>
            <a:r>
              <a:rPr lang="en-US" sz="2400" dirty="0" smtClean="0">
                <a:latin typeface="Times New Roman" pitchFamily="18" charset="0"/>
                <a:cs typeface="Times New Roman" pitchFamily="18" charset="0"/>
              </a:rPr>
              <a:t>(</a:t>
            </a:r>
            <a:r>
              <a:rPr lang="en-US" sz="2400" i="1" dirty="0" smtClean="0">
                <a:latin typeface="Times New Roman" pitchFamily="18" charset="0"/>
                <a:cs typeface="Times New Roman" pitchFamily="18" charset="0"/>
              </a:rPr>
              <a:t>x</a:t>
            </a:r>
            <a:r>
              <a:rPr lang="en-US" sz="2400" dirty="0" smtClean="0">
                <a:latin typeface="Times New Roman" pitchFamily="18" charset="0"/>
                <a:cs typeface="Times New Roman" pitchFamily="18" charset="0"/>
              </a:rPr>
              <a:t>) = </a:t>
            </a:r>
            <a:r>
              <a:rPr lang="en-US" sz="2400" i="1" dirty="0" smtClean="0">
                <a:latin typeface="Times New Roman" pitchFamily="18" charset="0"/>
                <a:cs typeface="Times New Roman" pitchFamily="18" charset="0"/>
              </a:rPr>
              <a:t>x</a:t>
            </a:r>
            <a:r>
              <a:rPr lang="en-US" sz="2400" dirty="0" smtClean="0">
                <a:latin typeface="Times New Roman" pitchFamily="18" charset="0"/>
                <a:cs typeface="Times New Roman" pitchFamily="18" charset="0"/>
              </a:rPr>
              <a:t> mod 8 and buckets can hold three records.</a:t>
            </a:r>
          </a:p>
          <a:p>
            <a:pPr algn="just"/>
            <a:endParaRPr lang="en-US" sz="2400" dirty="0" smtClean="0">
              <a:latin typeface="Times New Roman" pitchFamily="18" charset="0"/>
              <a:cs typeface="Times New Roman" pitchFamily="18" charset="0"/>
            </a:endParaRPr>
          </a:p>
          <a:p>
            <a:pPr algn="just"/>
            <a:r>
              <a:rPr lang="en-US" sz="2400" b="1" dirty="0" smtClean="0">
                <a:latin typeface="Times New Roman" pitchFamily="18" charset="0"/>
                <a:cs typeface="Times New Roman" pitchFamily="18" charset="0"/>
              </a:rPr>
              <a:t> </a:t>
            </a: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742950" marR="0" lvl="1" indent="-285750" algn="just"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0" name="Table 9"/>
          <p:cNvGraphicFramePr>
            <a:graphicFrameLocks noGrp="1"/>
          </p:cNvGraphicFramePr>
          <p:nvPr/>
        </p:nvGraphicFramePr>
        <p:xfrm>
          <a:off x="5410200" y="40386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3</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3, 11, 19</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2" name="Table 11"/>
          <p:cNvGraphicFramePr>
            <a:graphicFrameLocks noGrp="1"/>
          </p:cNvGraphicFramePr>
          <p:nvPr/>
        </p:nvGraphicFramePr>
        <p:xfrm>
          <a:off x="5410200" y="5486400"/>
          <a:ext cx="1371600" cy="533400"/>
        </p:xfrm>
        <a:graphic>
          <a:graphicData uri="http://schemas.openxmlformats.org/drawingml/2006/table">
            <a:tbl>
              <a:tblPr/>
              <a:tblGrid>
                <a:gridCol w="424308"/>
                <a:gridCol w="473646"/>
                <a:gridCol w="473646"/>
              </a:tblGrid>
              <a:tr h="266700">
                <a:tc>
                  <a:txBody>
                    <a:bodyPr/>
                    <a:lstStyle/>
                    <a:p>
                      <a:pPr algn="ctr" fontAlgn="b"/>
                      <a:r>
                        <a:rPr lang="en-US" sz="1400" b="0" i="0" u="none" strike="noStrike" dirty="0" smtClean="0">
                          <a:solidFill>
                            <a:srgbClr val="000000"/>
                          </a:solidFill>
                          <a:latin typeface="Times New Roman" pitchFamily="18" charset="0"/>
                          <a:cs typeface="Times New Roman" pitchFamily="18" charset="0"/>
                        </a:rPr>
                        <a:t>2</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6700">
                <a:tc gridSpan="3">
                  <a:txBody>
                    <a:bodyPr/>
                    <a:lstStyle/>
                    <a:p>
                      <a:pPr algn="ctr" fontAlgn="b"/>
                      <a:r>
                        <a:rPr lang="en-US" sz="1400" b="0" i="0" u="none" strike="noStrike" dirty="0" smtClean="0">
                          <a:solidFill>
                            <a:srgbClr val="000000"/>
                          </a:solidFill>
                          <a:latin typeface="Times New Roman" pitchFamily="18" charset="0"/>
                          <a:cs typeface="Times New Roman" pitchFamily="18" charset="0"/>
                        </a:rPr>
                        <a:t>7, 23, 31</a:t>
                      </a:r>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13" name="Table 12"/>
          <p:cNvGraphicFramePr>
            <a:graphicFrameLocks noGrp="1"/>
          </p:cNvGraphicFramePr>
          <p:nvPr/>
        </p:nvGraphicFramePr>
        <p:xfrm>
          <a:off x="2743200" y="3124200"/>
          <a:ext cx="1295400" cy="2438400"/>
        </p:xfrm>
        <a:graphic>
          <a:graphicData uri="http://schemas.openxmlformats.org/drawingml/2006/table">
            <a:tbl>
              <a:tblPr firstRow="1" bandRow="1">
                <a:tableStyleId>{5C22544A-7EE6-4342-B048-85BDC9FD1C3A}</a:tableStyleId>
              </a:tblPr>
              <a:tblGrid>
                <a:gridCol w="1295400"/>
              </a:tblGrid>
              <a:tr h="226060">
                <a:tc>
                  <a:txBody>
                    <a:bodyPr/>
                    <a:lstStyle/>
                    <a:p>
                      <a:pPr algn="ctr"/>
                      <a:r>
                        <a:rPr lang="en-US" sz="1400" dirty="0" smtClean="0"/>
                        <a:t>000</a:t>
                      </a:r>
                      <a:endParaRPr lang="en-US" sz="1400" dirty="0"/>
                    </a:p>
                  </a:txBody>
                  <a:tcPr/>
                </a:tc>
              </a:tr>
              <a:tr h="226060">
                <a:tc>
                  <a:txBody>
                    <a:bodyPr/>
                    <a:lstStyle/>
                    <a:p>
                      <a:pPr algn="ctr"/>
                      <a:r>
                        <a:rPr lang="en-US" sz="1400" dirty="0" smtClean="0"/>
                        <a:t>001</a:t>
                      </a:r>
                      <a:endParaRPr lang="en-US" sz="1400" dirty="0"/>
                    </a:p>
                  </a:txBody>
                  <a:tcPr/>
                </a:tc>
              </a:tr>
              <a:tr h="226060">
                <a:tc>
                  <a:txBody>
                    <a:bodyPr/>
                    <a:lstStyle/>
                    <a:p>
                      <a:pPr algn="ctr"/>
                      <a:r>
                        <a:rPr lang="en-US" sz="1400" dirty="0" smtClean="0"/>
                        <a:t>010</a:t>
                      </a:r>
                      <a:endParaRPr lang="en-US" sz="1400" dirty="0"/>
                    </a:p>
                  </a:txBody>
                  <a:tcPr/>
                </a:tc>
              </a:tr>
              <a:tr h="226060">
                <a:tc>
                  <a:txBody>
                    <a:bodyPr/>
                    <a:lstStyle/>
                    <a:p>
                      <a:pPr algn="ctr"/>
                      <a:r>
                        <a:rPr lang="en-US" sz="1400" dirty="0" smtClean="0"/>
                        <a:t>011</a:t>
                      </a:r>
                      <a:endParaRPr lang="en-US" sz="1400" dirty="0"/>
                    </a:p>
                  </a:txBody>
                  <a:tcPr/>
                </a:tc>
              </a:tr>
              <a:tr h="226060">
                <a:tc>
                  <a:txBody>
                    <a:bodyPr/>
                    <a:lstStyle/>
                    <a:p>
                      <a:pPr algn="ctr"/>
                      <a:r>
                        <a:rPr lang="en-US" sz="1400" dirty="0" smtClean="0"/>
                        <a:t>100</a:t>
                      </a:r>
                      <a:endParaRPr lang="en-US" sz="1400" dirty="0"/>
                    </a:p>
                  </a:txBody>
                  <a:tcPr/>
                </a:tc>
              </a:tr>
              <a:tr h="226060">
                <a:tc>
                  <a:txBody>
                    <a:bodyPr/>
                    <a:lstStyle/>
                    <a:p>
                      <a:pPr algn="ctr"/>
                      <a:r>
                        <a:rPr lang="en-US" sz="1400" dirty="0" smtClean="0"/>
                        <a:t>101</a:t>
                      </a:r>
                      <a:endParaRPr lang="en-US" sz="1400" dirty="0"/>
                    </a:p>
                  </a:txBody>
                  <a:tcPr/>
                </a:tc>
              </a:tr>
              <a:tr h="226060">
                <a:tc>
                  <a:txBody>
                    <a:bodyPr/>
                    <a:lstStyle/>
                    <a:p>
                      <a:pPr algn="ctr"/>
                      <a:r>
                        <a:rPr lang="en-US" sz="1400" dirty="0" smtClean="0"/>
                        <a:t>110</a:t>
                      </a:r>
                      <a:endParaRPr lang="en-US" sz="1400" dirty="0"/>
                    </a:p>
                  </a:txBody>
                  <a:tcPr/>
                </a:tc>
              </a:tr>
              <a:tr h="226060">
                <a:tc>
                  <a:txBody>
                    <a:bodyPr/>
                    <a:lstStyle/>
                    <a:p>
                      <a:pPr algn="ctr"/>
                      <a:r>
                        <a:rPr lang="en-US" sz="1400" dirty="0" smtClean="0"/>
                        <a:t>111</a:t>
                      </a:r>
                      <a:endParaRPr lang="en-US" sz="1400" dirty="0"/>
                    </a:p>
                  </a:txBody>
                  <a:tcPr/>
                </a:tc>
              </a:tr>
            </a:tbl>
          </a:graphicData>
        </a:graphic>
      </p:graphicFrame>
      <p:sp>
        <p:nvSpPr>
          <p:cNvPr id="21" name="TextBox 20"/>
          <p:cNvSpPr txBox="1"/>
          <p:nvPr/>
        </p:nvSpPr>
        <p:spPr>
          <a:xfrm>
            <a:off x="2743200" y="2818213"/>
            <a:ext cx="381000" cy="307777"/>
          </a:xfrm>
          <a:prstGeom prst="rect">
            <a:avLst/>
          </a:prstGeom>
          <a:noFill/>
          <a:ln>
            <a:solidFill>
              <a:srgbClr val="FF0000"/>
            </a:solidFill>
          </a:ln>
        </p:spPr>
        <p:txBody>
          <a:bodyPr wrap="square" rtlCol="0" anchor="ctr" anchorCtr="0">
            <a:spAutoFit/>
          </a:bodyPr>
          <a:lstStyle/>
          <a:p>
            <a:pPr algn="ctr"/>
            <a:r>
              <a:rPr lang="en-US" sz="1400" dirty="0" smtClean="0">
                <a:latin typeface="Times New Roman" pitchFamily="18" charset="0"/>
                <a:cs typeface="Times New Roman" pitchFamily="18" charset="0"/>
              </a:rPr>
              <a:t>3</a:t>
            </a:r>
            <a:endParaRPr lang="en-US" sz="1400" dirty="0">
              <a:latin typeface="Times New Roman" pitchFamily="18" charset="0"/>
              <a:cs typeface="Times New Roman" pitchFamily="18" charset="0"/>
            </a:endParaRPr>
          </a:p>
        </p:txBody>
      </p:sp>
      <p:graphicFrame>
        <p:nvGraphicFramePr>
          <p:cNvPr id="26" name="Table 25"/>
          <p:cNvGraphicFramePr>
            <a:graphicFrameLocks noGrp="1"/>
          </p:cNvGraphicFramePr>
          <p:nvPr/>
        </p:nvGraphicFramePr>
        <p:xfrm>
          <a:off x="5410200" y="4803576"/>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rgbClr val="000000"/>
                          </a:solidFill>
                          <a:latin typeface="Times New Roman" pitchFamily="18" charset="0"/>
                          <a:cs typeface="Times New Roman" pitchFamily="18" charset="0"/>
                        </a:rPr>
                        <a:t>2</a:t>
                      </a:r>
                      <a:r>
                        <a:rPr lang="en-US" sz="1400" b="0" i="0" u="none" strike="noStrike" dirty="0">
                          <a:solidFill>
                            <a:srgbClr val="000000"/>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rgbClr val="000000"/>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5, 29</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cxnSp>
        <p:nvCxnSpPr>
          <p:cNvPr id="27" name="Straight Arrow Connector 26"/>
          <p:cNvCxnSpPr/>
          <p:nvPr/>
        </p:nvCxnSpPr>
        <p:spPr>
          <a:xfrm>
            <a:off x="4038600" y="5410200"/>
            <a:ext cx="13716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32" name="Table 31"/>
          <p:cNvGraphicFramePr>
            <a:graphicFrameLocks noGrp="1"/>
          </p:cNvGraphicFramePr>
          <p:nvPr/>
        </p:nvGraphicFramePr>
        <p:xfrm>
          <a:off x="5397499" y="32766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3</a:t>
                      </a:r>
                      <a:r>
                        <a:rPr lang="en-US" sz="1400" b="0" i="0" u="none" strike="noStrike" dirty="0">
                          <a:solidFill>
                            <a:schemeClr val="tx1"/>
                          </a:solidFill>
                          <a:latin typeface="Times New Roman" pitchFamily="18" charset="0"/>
                          <a:cs typeface="Times New Roman"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graphicFrame>
        <p:nvGraphicFramePr>
          <p:cNvPr id="33" name="Table 32"/>
          <p:cNvGraphicFramePr>
            <a:graphicFrameLocks noGrp="1"/>
          </p:cNvGraphicFramePr>
          <p:nvPr/>
        </p:nvGraphicFramePr>
        <p:xfrm>
          <a:off x="5410200" y="25146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17</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sp>
        <p:nvSpPr>
          <p:cNvPr id="34" name="Content Placeholder 16"/>
          <p:cNvSpPr txBox="1">
            <a:spLocks/>
          </p:cNvSpPr>
          <p:nvPr/>
        </p:nvSpPr>
        <p:spPr>
          <a:xfrm>
            <a:off x="457200" y="1371600"/>
            <a:ext cx="82296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 A</a:t>
            </a:r>
            <a:endParaRPr lang="en-US" sz="2000" b="1" dirty="0" smtClean="0">
              <a:latin typeface="Times New Roman" pitchFamily="18" charset="0"/>
              <a:cs typeface="Times New Roman" pitchFamily="18" charset="0"/>
            </a:endParaRP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p>
          <a:p>
            <a:pPr marL="342900" lvl="0" indent="-342900" algn="just">
              <a:spcBef>
                <a:spcPct val="20000"/>
              </a:spcBef>
            </a:pPr>
            <a:r>
              <a:rPr lang="en-US" sz="16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Final extendable hash structure:</a:t>
            </a:r>
            <a:endPar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p:txBody>
      </p:sp>
      <p:cxnSp>
        <p:nvCxnSpPr>
          <p:cNvPr id="35" name="Straight Arrow Connector 34"/>
          <p:cNvCxnSpPr/>
          <p:nvPr/>
        </p:nvCxnSpPr>
        <p:spPr>
          <a:xfrm flipV="1">
            <a:off x="4038600" y="2819400"/>
            <a:ext cx="13716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4038600" y="3048000"/>
            <a:ext cx="13716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4038600" y="3657600"/>
            <a:ext cx="13716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4038600" y="4191000"/>
            <a:ext cx="13716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4038600" y="4495800"/>
            <a:ext cx="13716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4038600" y="4800600"/>
            <a:ext cx="13716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4038600" y="5105400"/>
            <a:ext cx="13716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0" name="Table 9"/>
          <p:cNvGraphicFramePr>
            <a:graphicFrameLocks noGrp="1"/>
          </p:cNvGraphicFramePr>
          <p:nvPr/>
        </p:nvGraphicFramePr>
        <p:xfrm>
          <a:off x="5181600" y="44958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3</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3, 19</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sp>
        <p:nvSpPr>
          <p:cNvPr id="34" name="Content Placeholder 16"/>
          <p:cNvSpPr txBox="1">
            <a:spLocks/>
          </p:cNvSpPr>
          <p:nvPr/>
        </p:nvSpPr>
        <p:spPr>
          <a:xfrm>
            <a:off x="457200" y="1371600"/>
            <a:ext cx="76962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smtClean="0">
                <a:latin typeface="Times New Roman" pitchFamily="18" charset="0"/>
                <a:cs typeface="Times New Roman" pitchFamily="18" charset="0"/>
              </a:rPr>
              <a:t>Example B</a:t>
            </a:r>
            <a:endParaRPr lang="en-US" sz="2000" b="1" dirty="0" smtClean="0">
              <a:latin typeface="Times New Roman" pitchFamily="18" charset="0"/>
              <a:cs typeface="Times New Roman" pitchFamily="18" charset="0"/>
            </a:endParaRPr>
          </a:p>
          <a:p>
            <a:pPr lvl="0"/>
            <a:r>
              <a:rPr lang="en-US" sz="2000" dirty="0" smtClean="0">
                <a:latin typeface="Times New Roman" pitchFamily="18" charset="0"/>
                <a:cs typeface="Times New Roman" pitchFamily="18" charset="0"/>
              </a:rPr>
              <a:t>Show how the extendable hash structure of </a:t>
            </a:r>
            <a:r>
              <a:rPr lang="en-US" sz="2000" dirty="0" smtClean="0">
                <a:latin typeface="Times New Roman" pitchFamily="18" charset="0"/>
                <a:cs typeface="Times New Roman" pitchFamily="18" charset="0"/>
              </a:rPr>
              <a:t>Example A changes </a:t>
            </a:r>
            <a:r>
              <a:rPr lang="en-US" sz="2000" dirty="0" smtClean="0">
                <a:latin typeface="Times New Roman" pitchFamily="18" charset="0"/>
                <a:cs typeface="Times New Roman" pitchFamily="18" charset="0"/>
              </a:rPr>
              <a:t>as the result of each of the following steps:</a:t>
            </a:r>
          </a:p>
          <a:p>
            <a:r>
              <a:rPr lang="en-US" sz="2000" dirty="0" smtClean="0">
                <a:latin typeface="Times New Roman" pitchFamily="18" charset="0"/>
                <a:cs typeface="Times New Roman" pitchFamily="18" charset="0"/>
              </a:rPr>
              <a:t>	a. Delete 11.</a:t>
            </a:r>
          </a:p>
          <a:p>
            <a:r>
              <a:rPr lang="en-US" sz="2000" dirty="0" smtClean="0">
                <a:latin typeface="Times New Roman" pitchFamily="18" charset="0"/>
                <a:cs typeface="Times New Roman" pitchFamily="18" charset="0"/>
              </a:rPr>
              <a:t>	b. Delete 31.</a:t>
            </a:r>
          </a:p>
          <a:p>
            <a:r>
              <a:rPr lang="en-US" sz="2000" dirty="0" smtClean="0">
                <a:latin typeface="Times New Roman" pitchFamily="18" charset="0"/>
                <a:cs typeface="Times New Roman" pitchFamily="18" charset="0"/>
              </a:rPr>
              <a:t>	c. Insert 1.</a:t>
            </a:r>
          </a:p>
          <a:p>
            <a:r>
              <a:rPr lang="en-US" sz="2000" dirty="0" smtClean="0">
                <a:latin typeface="Times New Roman" pitchFamily="18" charset="0"/>
                <a:cs typeface="Times New Roman" pitchFamily="18" charset="0"/>
              </a:rPr>
              <a:t>	d. Insert 15.</a:t>
            </a:r>
            <a:endParaRPr lang="en-US" sz="2000" b="1" dirty="0" smtClean="0">
              <a:latin typeface="Times New Roman" pitchFamily="18" charset="0"/>
              <a:cs typeface="Times New Roman" pitchFamily="18" charset="0"/>
            </a:endParaRPr>
          </a:p>
          <a:p>
            <a:pPr marL="342900" lvl="0" indent="-342900" algn="just">
              <a:spcBef>
                <a:spcPct val="20000"/>
              </a:spcBef>
            </a:pPr>
            <a:endPar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  a. Delete 11.</a:t>
            </a:r>
          </a:p>
          <a:p>
            <a:pPr marL="342900" lvl="0" indent="-342900" algn="just">
              <a:spcBef>
                <a:spcPct val="20000"/>
              </a:spcBef>
            </a:pPr>
            <a:r>
              <a:rPr lang="en-US" sz="2000" dirty="0" smtClean="0">
                <a:latin typeface="Times New Roman" pitchFamily="18" charset="0"/>
                <a:cs typeface="Times New Roman" pitchFamily="18" charset="0"/>
              </a:rPr>
              <a:t>Delete 11 from the third bucket.</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0" name="Table 9"/>
          <p:cNvGraphicFramePr>
            <a:graphicFrameLocks noGrp="1"/>
          </p:cNvGraphicFramePr>
          <p:nvPr/>
        </p:nvGraphicFramePr>
        <p:xfrm>
          <a:off x="5181600" y="44958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7, 23</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sp>
        <p:nvSpPr>
          <p:cNvPr id="34" name="Content Placeholder 16"/>
          <p:cNvSpPr txBox="1">
            <a:spLocks/>
          </p:cNvSpPr>
          <p:nvPr/>
        </p:nvSpPr>
        <p:spPr>
          <a:xfrm>
            <a:off x="457200" y="1371600"/>
            <a:ext cx="76962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lvl="0"/>
            <a:r>
              <a:rPr lang="en-US" sz="2000" dirty="0" smtClean="0">
                <a:latin typeface="Times New Roman" pitchFamily="18" charset="0"/>
                <a:cs typeface="Times New Roman" pitchFamily="18" charset="0"/>
              </a:rPr>
              <a:t>Show how the extendable hash structure of Q. 26 changes as the result of each of the following steps:</a:t>
            </a:r>
          </a:p>
          <a:p>
            <a:r>
              <a:rPr lang="en-US" sz="2000" dirty="0" smtClean="0">
                <a:latin typeface="Times New Roman" pitchFamily="18" charset="0"/>
                <a:cs typeface="Times New Roman" pitchFamily="18" charset="0"/>
              </a:rPr>
              <a:t>	a. Delete 11.</a:t>
            </a:r>
          </a:p>
          <a:p>
            <a:r>
              <a:rPr lang="en-US" sz="2000" dirty="0" smtClean="0">
                <a:latin typeface="Times New Roman" pitchFamily="18" charset="0"/>
                <a:cs typeface="Times New Roman" pitchFamily="18" charset="0"/>
              </a:rPr>
              <a:t>	b. Delete 31.</a:t>
            </a:r>
          </a:p>
          <a:p>
            <a:r>
              <a:rPr lang="en-US" sz="2000" dirty="0" smtClean="0">
                <a:latin typeface="Times New Roman" pitchFamily="18" charset="0"/>
                <a:cs typeface="Times New Roman" pitchFamily="18" charset="0"/>
              </a:rPr>
              <a:t>	c. Insert 1.</a:t>
            </a:r>
          </a:p>
          <a:p>
            <a:r>
              <a:rPr lang="en-US" sz="2000" dirty="0" smtClean="0">
                <a:latin typeface="Times New Roman" pitchFamily="18" charset="0"/>
                <a:cs typeface="Times New Roman" pitchFamily="18" charset="0"/>
              </a:rPr>
              <a:t>	d. Insert 15.</a:t>
            </a:r>
            <a:endParaRPr lang="en-US" sz="2000" b="1" dirty="0" smtClean="0">
              <a:latin typeface="Times New Roman" pitchFamily="18" charset="0"/>
              <a:cs typeface="Times New Roman" pitchFamily="18" charset="0"/>
            </a:endParaRPr>
          </a:p>
          <a:p>
            <a:pPr marL="342900" lvl="0" indent="-342900" algn="just">
              <a:spcBef>
                <a:spcPct val="20000"/>
              </a:spcBef>
            </a:pPr>
            <a:endPar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  b. Delete 31.</a:t>
            </a:r>
          </a:p>
          <a:p>
            <a:pPr marL="342900" lvl="0" indent="-342900" algn="just">
              <a:spcBef>
                <a:spcPct val="20000"/>
              </a:spcBef>
            </a:pPr>
            <a:r>
              <a:rPr lang="en-US" sz="2000" dirty="0" smtClean="0">
                <a:latin typeface="Times New Roman" pitchFamily="18" charset="0"/>
                <a:cs typeface="Times New Roman" pitchFamily="18" charset="0"/>
              </a:rPr>
              <a:t>Delete 31 from the Last bucket.</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0" name="Table 9"/>
          <p:cNvGraphicFramePr>
            <a:graphicFrameLocks noGrp="1"/>
          </p:cNvGraphicFramePr>
          <p:nvPr/>
        </p:nvGraphicFramePr>
        <p:xfrm>
          <a:off x="5181600" y="44958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1, 17</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sp>
        <p:nvSpPr>
          <p:cNvPr id="34" name="Content Placeholder 16"/>
          <p:cNvSpPr txBox="1">
            <a:spLocks/>
          </p:cNvSpPr>
          <p:nvPr/>
        </p:nvSpPr>
        <p:spPr>
          <a:xfrm>
            <a:off x="457200" y="1371600"/>
            <a:ext cx="76962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lvl="0"/>
            <a:r>
              <a:rPr lang="en-US" sz="2000" dirty="0" smtClean="0">
                <a:latin typeface="Times New Roman" pitchFamily="18" charset="0"/>
                <a:cs typeface="Times New Roman" pitchFamily="18" charset="0"/>
              </a:rPr>
              <a:t>Show how the extendable hash structure of Q. 26 changes as the result of each of the following steps:</a:t>
            </a:r>
          </a:p>
          <a:p>
            <a:r>
              <a:rPr lang="en-US" sz="2000" dirty="0" smtClean="0">
                <a:latin typeface="Times New Roman" pitchFamily="18" charset="0"/>
                <a:cs typeface="Times New Roman" pitchFamily="18" charset="0"/>
              </a:rPr>
              <a:t>	a. Delete 11.</a:t>
            </a:r>
          </a:p>
          <a:p>
            <a:r>
              <a:rPr lang="en-US" sz="2000" dirty="0" smtClean="0">
                <a:latin typeface="Times New Roman" pitchFamily="18" charset="0"/>
                <a:cs typeface="Times New Roman" pitchFamily="18" charset="0"/>
              </a:rPr>
              <a:t>	b. Delete 31.</a:t>
            </a:r>
          </a:p>
          <a:p>
            <a:r>
              <a:rPr lang="en-US" sz="2000" dirty="0" smtClean="0">
                <a:latin typeface="Times New Roman" pitchFamily="18" charset="0"/>
                <a:cs typeface="Times New Roman" pitchFamily="18" charset="0"/>
              </a:rPr>
              <a:t>	c. Insert 1.</a:t>
            </a:r>
          </a:p>
          <a:p>
            <a:r>
              <a:rPr lang="en-US" sz="2000" dirty="0" smtClean="0">
                <a:latin typeface="Times New Roman" pitchFamily="18" charset="0"/>
                <a:cs typeface="Times New Roman" pitchFamily="18" charset="0"/>
              </a:rPr>
              <a:t>	d. Insert 15.</a:t>
            </a:r>
            <a:endParaRPr lang="en-US" sz="2000" b="1" dirty="0" smtClean="0">
              <a:latin typeface="Times New Roman" pitchFamily="18" charset="0"/>
              <a:cs typeface="Times New Roman" pitchFamily="18" charset="0"/>
            </a:endParaRPr>
          </a:p>
          <a:p>
            <a:pPr marL="342900" lvl="0" indent="-342900" algn="just">
              <a:spcBef>
                <a:spcPct val="20000"/>
              </a:spcBef>
            </a:pPr>
            <a:endPar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  c. Insert 1.</a:t>
            </a:r>
          </a:p>
          <a:p>
            <a:pPr marL="342900" lvl="0" indent="-342900" algn="just">
              <a:spcBef>
                <a:spcPct val="20000"/>
              </a:spcBef>
            </a:pPr>
            <a:r>
              <a:rPr lang="en-US" sz="2000" dirty="0" smtClean="0">
                <a:latin typeface="Times New Roman" pitchFamily="18" charset="0"/>
                <a:cs typeface="Times New Roman" pitchFamily="18" charset="0"/>
              </a:rPr>
              <a:t>Insert 1 into the first bucket.</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4"/>
          <p:cNvSpPr>
            <a:spLocks noGrp="1"/>
          </p:cNvSpPr>
          <p:nvPr>
            <p:ph type="title" idx="4294967295"/>
          </p:nvPr>
        </p:nvSpPr>
        <p:spPr>
          <a:xfrm>
            <a:off x="1219200" y="350838"/>
            <a:ext cx="6934200" cy="792162"/>
          </a:xfrm>
          <a:prstGeom prst="rect">
            <a:avLst/>
          </a:prstGeom>
        </p:spPr>
        <p:txBody>
          <a:bodyPr/>
          <a:lstStyle/>
          <a:p>
            <a:r>
              <a:rPr lang="en-US" sz="4000" dirty="0" smtClean="0">
                <a:latin typeface="Times New Roman" pitchFamily="18" charset="0"/>
                <a:cs typeface="Times New Roman" pitchFamily="18" charset="0"/>
              </a:rPr>
              <a:t>Dynamic Hashing </a:t>
            </a:r>
            <a:br>
              <a:rPr lang="en-US" sz="4000" dirty="0" smtClean="0">
                <a:latin typeface="Times New Roman" pitchFamily="18" charset="0"/>
                <a:cs typeface="Times New Roman" pitchFamily="18" charset="0"/>
              </a:rPr>
            </a:br>
            <a:endParaRPr lang="en-US" sz="4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1/4/2025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graphicFrame>
        <p:nvGraphicFramePr>
          <p:cNvPr id="10" name="Table 9"/>
          <p:cNvGraphicFramePr>
            <a:graphicFrameLocks noGrp="1"/>
          </p:cNvGraphicFramePr>
          <p:nvPr/>
        </p:nvGraphicFramePr>
        <p:xfrm>
          <a:off x="5181600" y="4495800"/>
          <a:ext cx="1384301" cy="530424"/>
        </p:xfrm>
        <a:graphic>
          <a:graphicData uri="http://schemas.openxmlformats.org/drawingml/2006/table">
            <a:tbl>
              <a:tblPr/>
              <a:tblGrid>
                <a:gridCol w="428237"/>
                <a:gridCol w="478032"/>
                <a:gridCol w="478032"/>
              </a:tblGrid>
              <a:tr h="265212">
                <a:tc>
                  <a:txBody>
                    <a:bodyPr/>
                    <a:lstStyle/>
                    <a:p>
                      <a:pPr algn="ctr" fontAlgn="b"/>
                      <a:r>
                        <a:rPr lang="en-US" sz="1400" b="0" i="0" u="none" strike="noStrike" dirty="0" smtClean="0">
                          <a:solidFill>
                            <a:schemeClr val="tx1"/>
                          </a:solidFill>
                          <a:latin typeface="Times New Roman" pitchFamily="18" charset="0"/>
                          <a:cs typeface="Times New Roman" pitchFamily="18" charset="0"/>
                        </a:rPr>
                        <a:t>2</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ctr" fontAlgn="b"/>
                      <a:endParaRPr lang="en-US" sz="1400" b="0" i="0" u="none" strike="noStrike" dirty="0">
                        <a:solidFill>
                          <a:schemeClr val="tx1"/>
                        </a:solidFill>
                        <a:latin typeface="Times New Roman" pitchFamily="18" charset="0"/>
                        <a:cs typeface="Times New Roman" pitchFamily="18" charset="0"/>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r>
              <a:tr h="265212">
                <a:tc gridSpan="3">
                  <a:txBody>
                    <a:bodyPr/>
                    <a:lstStyle/>
                    <a:p>
                      <a:pPr algn="ctr" fontAlgn="b"/>
                      <a:r>
                        <a:rPr lang="en-US" sz="1400" b="0" i="0" u="none" strike="noStrike" dirty="0" smtClean="0">
                          <a:solidFill>
                            <a:schemeClr val="tx1"/>
                          </a:solidFill>
                          <a:latin typeface="Times New Roman" pitchFamily="18" charset="0"/>
                          <a:cs typeface="Times New Roman" pitchFamily="18" charset="0"/>
                        </a:rPr>
                        <a:t>7, 15, 23</a:t>
                      </a:r>
                      <a:endParaRPr lang="en-US" sz="1400" b="0" i="0" u="none" strike="noStrike" dirty="0">
                        <a:solidFill>
                          <a:schemeClr val="tx1"/>
                        </a:solidFill>
                        <a:latin typeface="Times New Roman" pitchFamily="18" charset="0"/>
                        <a:cs typeface="Times New Roman"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r>
            </a:tbl>
          </a:graphicData>
        </a:graphic>
      </p:graphicFrame>
      <p:sp>
        <p:nvSpPr>
          <p:cNvPr id="34" name="Content Placeholder 16"/>
          <p:cNvSpPr txBox="1">
            <a:spLocks/>
          </p:cNvSpPr>
          <p:nvPr/>
        </p:nvSpPr>
        <p:spPr>
          <a:xfrm>
            <a:off x="457200" y="1371600"/>
            <a:ext cx="7696200" cy="4525963"/>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Wingdings" pitchFamily="2" charset="2"/>
              <a:buChar char="q"/>
              <a:tabLst/>
              <a:defRPr/>
            </a:pPr>
            <a:r>
              <a:rPr lang="en-US" sz="2000" b="1" dirty="0" smtClean="0">
                <a:latin typeface="Times New Roman" pitchFamily="18" charset="0"/>
                <a:cs typeface="Times New Roman" pitchFamily="18" charset="0"/>
              </a:rPr>
              <a:t>Example</a:t>
            </a:r>
          </a:p>
          <a:p>
            <a:pPr lvl="0"/>
            <a:r>
              <a:rPr lang="en-US" sz="2000" dirty="0" smtClean="0">
                <a:latin typeface="Times New Roman" pitchFamily="18" charset="0"/>
                <a:cs typeface="Times New Roman" pitchFamily="18" charset="0"/>
              </a:rPr>
              <a:t>Show how the extendable hash structure of Q. 26 changes as the result of each of the following steps:</a:t>
            </a:r>
          </a:p>
          <a:p>
            <a:r>
              <a:rPr lang="en-US" sz="2000" dirty="0" smtClean="0">
                <a:latin typeface="Times New Roman" pitchFamily="18" charset="0"/>
                <a:cs typeface="Times New Roman" pitchFamily="18" charset="0"/>
              </a:rPr>
              <a:t>	a. Delete 11.</a:t>
            </a:r>
          </a:p>
          <a:p>
            <a:r>
              <a:rPr lang="en-US" sz="2000" dirty="0" smtClean="0">
                <a:latin typeface="Times New Roman" pitchFamily="18" charset="0"/>
                <a:cs typeface="Times New Roman" pitchFamily="18" charset="0"/>
              </a:rPr>
              <a:t>	b. Delete 31.</a:t>
            </a:r>
          </a:p>
          <a:p>
            <a:r>
              <a:rPr lang="en-US" sz="2000" dirty="0" smtClean="0">
                <a:latin typeface="Times New Roman" pitchFamily="18" charset="0"/>
                <a:cs typeface="Times New Roman" pitchFamily="18" charset="0"/>
              </a:rPr>
              <a:t>	c. Insert 1.</a:t>
            </a:r>
          </a:p>
          <a:p>
            <a:r>
              <a:rPr lang="en-US" sz="2000" dirty="0" smtClean="0">
                <a:latin typeface="Times New Roman" pitchFamily="18" charset="0"/>
                <a:cs typeface="Times New Roman" pitchFamily="18" charset="0"/>
              </a:rPr>
              <a:t>	d. Insert 15.</a:t>
            </a:r>
            <a:endParaRPr lang="en-US" sz="2000" b="1" dirty="0" smtClean="0">
              <a:latin typeface="Times New Roman" pitchFamily="18" charset="0"/>
              <a:cs typeface="Times New Roman" pitchFamily="18" charset="0"/>
            </a:endParaRPr>
          </a:p>
          <a:p>
            <a:pPr marL="342900" lvl="0" indent="-342900" algn="just">
              <a:spcBef>
                <a:spcPct val="20000"/>
              </a:spcBef>
            </a:pPr>
            <a:endPar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endParaRPr>
          </a:p>
          <a:p>
            <a:pPr marL="342900" lvl="0" indent="-342900" algn="just">
              <a:spcBef>
                <a:spcPct val="20000"/>
              </a:spcBef>
            </a:pPr>
            <a:r>
              <a:rPr kumimoji="0" lang="en-US" sz="2000" b="1"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Solution:</a:t>
            </a:r>
            <a:r>
              <a:rPr kumimoji="0" lang="en-US" sz="2000" b="0" i="0" u="none" strike="noStrike" kern="1200" cap="none" spc="0" normalizeH="0" baseline="0" noProof="0" dirty="0" smtClean="0">
                <a:ln>
                  <a:noFill/>
                </a:ln>
                <a:solidFill>
                  <a:schemeClr val="tx1"/>
                </a:solidFill>
                <a:effectLst/>
                <a:uLnTx/>
                <a:uFillTx/>
                <a:latin typeface="Times New Roman" pitchFamily="18" charset="0"/>
                <a:cs typeface="Times New Roman" pitchFamily="18" charset="0"/>
              </a:rPr>
              <a:t> </a:t>
            </a:r>
            <a:r>
              <a:rPr lang="en-US" sz="2000" dirty="0" smtClean="0">
                <a:latin typeface="Times New Roman" pitchFamily="18" charset="0"/>
                <a:cs typeface="Times New Roman" pitchFamily="18" charset="0"/>
              </a:rPr>
              <a:t>  d. Insert 15.</a:t>
            </a:r>
          </a:p>
          <a:p>
            <a:pPr marL="342900" lvl="0" indent="-342900" algn="just">
              <a:spcBef>
                <a:spcPct val="20000"/>
              </a:spcBef>
            </a:pPr>
            <a:r>
              <a:rPr lang="en-US" sz="2000" dirty="0" smtClean="0">
                <a:latin typeface="Times New Roman" pitchFamily="18" charset="0"/>
                <a:cs typeface="Times New Roman" pitchFamily="18" charset="0"/>
              </a:rPr>
              <a:t>Insert 15 into the last bucket.</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993</TotalTime>
  <Words>1603</Words>
  <Application>Microsoft Office PowerPoint</Application>
  <PresentationFormat>On-screen Show (4:3)</PresentationFormat>
  <Paragraphs>980</Paragraphs>
  <Slides>31</Slides>
  <Notes>31</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Slide 1</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lpstr>Dynamic Hashing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CSEJU</cp:lastModifiedBy>
  <cp:revision>939</cp:revision>
  <dcterms:created xsi:type="dcterms:W3CDTF">2014-09-22T15:27:45Z</dcterms:created>
  <dcterms:modified xsi:type="dcterms:W3CDTF">2025-01-04T12:39:35Z</dcterms:modified>
</cp:coreProperties>
</file>